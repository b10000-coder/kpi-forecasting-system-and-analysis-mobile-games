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383AFD-4F68-4535-BF46-1FAF93763E93}">
  <a:tblStyle styleId="{83383AFD-4F68-4535-BF46-1FAF93763E9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cbfc9b87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cbfc9b87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bfc9b877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bfc9b877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bfc9b877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bfc9b877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bfc9b877a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bfc9b877a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bfc9b877a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bfc9b877a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bfc9b877a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bfc9b877a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bfc9b877a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bfc9b877a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bfc9b877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bfc9b877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bfc9b877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bfc9b877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bfc9b877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bfc9b877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bfc9b877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bfc9b877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bfc9b877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cbfc9b877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bfc9b877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bfc9b877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bfc9b877a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cbfc9b877a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linkedin.com/in/burakkurt00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rive.google.com/file/d/14fy768EJvstARXn4enxyriqP6UTZLwMQ/view?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rive.google.com/file/d/1Wb8AxNagE2_2WN_dhWRF98O2SP5kvMxH/view?usp=sharing" TargetMode="External"/><Relationship Id="rId4" Type="http://schemas.openxmlformats.org/officeDocument/2006/relationships/hyperlink" Target="https://drive.google.com/file/d/1Wb8AxNagE2_2WN_dhWRF98O2SP5kvMxH/view?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docs.google.com/document/d/1YX6orxFoB5q-RzAEaTnI8-fcRPj5mXUo/edit?usp=sharing&amp;ouid=112319496484405623083&amp;rtpof=true&amp;sd=tru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722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t/>
            </a:r>
            <a:endParaRPr b="1" sz="2800"/>
          </a:p>
          <a:p>
            <a:pPr indent="0" lvl="0" marL="0" rtl="0" algn="ctr">
              <a:lnSpc>
                <a:spcPct val="125000"/>
              </a:lnSpc>
              <a:spcBef>
                <a:spcPts val="0"/>
              </a:spcBef>
              <a:spcAft>
                <a:spcPts val="0"/>
              </a:spcAft>
              <a:buClr>
                <a:schemeClr val="dk1"/>
              </a:buClr>
              <a:buSzPct val="47826"/>
              <a:buFont typeface="Arial"/>
              <a:buNone/>
            </a:pPr>
            <a:r>
              <a:rPr b="1" lang="tr" sz="2300"/>
              <a:t>Mobile Game Marketing Analytics Case Study</a:t>
            </a:r>
            <a:endParaRPr b="1" sz="2800"/>
          </a:p>
        </p:txBody>
      </p:sp>
      <p:sp>
        <p:nvSpPr>
          <p:cNvPr id="55" name="Google Shape;55;p13"/>
          <p:cNvSpPr txBox="1"/>
          <p:nvPr>
            <p:ph idx="1" type="subTitle"/>
          </p:nvPr>
        </p:nvSpPr>
        <p:spPr>
          <a:xfrm>
            <a:off x="311700" y="32720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tr"/>
              <a:t>Burak Kurt</a:t>
            </a:r>
            <a:endParaRPr/>
          </a:p>
        </p:txBody>
      </p:sp>
      <p:sp>
        <p:nvSpPr>
          <p:cNvPr id="56" name="Google Shape;56;p13"/>
          <p:cNvSpPr txBox="1"/>
          <p:nvPr/>
        </p:nvSpPr>
        <p:spPr>
          <a:xfrm>
            <a:off x="2558925" y="3818750"/>
            <a:ext cx="4026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tr" sz="1300" u="sng">
                <a:solidFill>
                  <a:srgbClr val="3C78D8"/>
                </a:solidFill>
                <a:hlinkClick r:id="rId3">
                  <a:extLst>
                    <a:ext uri="{A12FA001-AC4F-418D-AE19-62706E023703}">
                      <ahyp:hlinkClr val="tx"/>
                    </a:ext>
                  </a:extLst>
                </a:hlinkClick>
              </a:rPr>
              <a:t>https://www.linkedin.com/in/burakkurt001/</a:t>
            </a:r>
            <a:endParaRPr sz="1600">
              <a:solidFill>
                <a:srgbClr val="3C78D8"/>
              </a:solidFill>
            </a:endParaRPr>
          </a:p>
        </p:txBody>
      </p:sp>
      <p:sp>
        <p:nvSpPr>
          <p:cNvPr id="57" name="Google Shape;57;p13"/>
          <p:cNvSpPr txBox="1"/>
          <p:nvPr/>
        </p:nvSpPr>
        <p:spPr>
          <a:xfrm>
            <a:off x="2255250" y="1699950"/>
            <a:ext cx="46335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tr" sz="1200">
                <a:solidFill>
                  <a:schemeClr val="dk1"/>
                </a:solidFill>
                <a:highlight>
                  <a:schemeClr val="lt1"/>
                </a:highlight>
              </a:rPr>
              <a:t>End-to-end marketing analytics for a mobile game soft launch, including campaign performance analysis, LTV modeling, and predictive ROAS framework.</a:t>
            </a:r>
            <a:endParaRPr>
              <a:solidFill>
                <a:schemeClr val="dk1"/>
              </a:solidFill>
              <a:highlight>
                <a:schemeClr val="lt1"/>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311700" y="11211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tr" sz="2720"/>
              <a:t>Q1</a:t>
            </a:r>
            <a:endParaRPr b="1" sz="2720"/>
          </a:p>
        </p:txBody>
      </p:sp>
      <p:sp>
        <p:nvSpPr>
          <p:cNvPr id="63" name="Google Shape;63;p14"/>
          <p:cNvSpPr txBox="1"/>
          <p:nvPr/>
        </p:nvSpPr>
        <p:spPr>
          <a:xfrm>
            <a:off x="311700" y="2200050"/>
            <a:ext cx="8520600" cy="84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tr" sz="1300">
                <a:solidFill>
                  <a:schemeClr val="dk1"/>
                </a:solidFill>
              </a:rPr>
              <a:t>We have a game in softlaunch and want to assess its performance. The data we have at hand for this assessment are in file softgames_sample_data.csv. Visualize this data in Tableau for marketing managers such that they can easily understand the performance of different campaigns.</a:t>
            </a:r>
            <a:endParaRPr sz="13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3240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Q1.1</a:t>
            </a:r>
            <a:endParaRPr sz="2720">
              <a:solidFill>
                <a:schemeClr val="accent3"/>
              </a:solidFill>
            </a:endParaRPr>
          </a:p>
        </p:txBody>
      </p:sp>
      <p:sp>
        <p:nvSpPr>
          <p:cNvPr id="69" name="Google Shape;69;p15"/>
          <p:cNvSpPr txBox="1"/>
          <p:nvPr>
            <p:ph idx="1" type="body"/>
          </p:nvPr>
        </p:nvSpPr>
        <p:spPr>
          <a:xfrm>
            <a:off x="2549700" y="3861125"/>
            <a:ext cx="4044600" cy="5289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SzPts val="852"/>
              <a:buNone/>
            </a:pPr>
            <a:r>
              <a:rPr lang="tr">
                <a:solidFill>
                  <a:srgbClr val="3C78D8"/>
                </a:solidFill>
              </a:rPr>
              <a:t> </a:t>
            </a:r>
            <a:r>
              <a:rPr b="1" lang="tr" sz="1695">
                <a:solidFill>
                  <a:srgbClr val="3C78D8"/>
                </a:solidFill>
              </a:rPr>
              <a:t>&gt; Download Tableau workbook &lt;</a:t>
            </a:r>
            <a:r>
              <a:rPr b="1" lang="tr" sz="1695">
                <a:solidFill>
                  <a:srgbClr val="3C78D8"/>
                </a:solidFill>
              </a:rPr>
              <a:t> </a:t>
            </a:r>
            <a:r>
              <a:rPr b="1" lang="tr" sz="1695">
                <a:solidFill>
                  <a:srgbClr val="CC0000"/>
                </a:solidFill>
              </a:rPr>
              <a:t>(</a:t>
            </a:r>
            <a:r>
              <a:rPr b="1" lang="tr" sz="1695">
                <a:solidFill>
                  <a:srgbClr val="CC0000"/>
                </a:solidFill>
              </a:rPr>
              <a:t>Download</a:t>
            </a:r>
            <a:r>
              <a:rPr b="1" lang="tr" sz="1695">
                <a:solidFill>
                  <a:srgbClr val="CC0000"/>
                </a:solidFill>
              </a:rPr>
              <a:t> Temporarily </a:t>
            </a:r>
            <a:r>
              <a:rPr b="1" lang="tr" sz="1695">
                <a:solidFill>
                  <a:srgbClr val="CC0000"/>
                </a:solidFill>
              </a:rPr>
              <a:t>unavailable</a:t>
            </a:r>
            <a:r>
              <a:rPr b="1" lang="tr" sz="1695">
                <a:solidFill>
                  <a:srgbClr val="CC0000"/>
                </a:solidFill>
              </a:rPr>
              <a:t> due to data privacy issues)</a:t>
            </a:r>
            <a:endParaRPr b="1" sz="1695">
              <a:solidFill>
                <a:srgbClr val="CC0000"/>
              </a:solidFill>
            </a:endParaRPr>
          </a:p>
        </p:txBody>
      </p:sp>
      <p:pic>
        <p:nvPicPr>
          <p:cNvPr id="70" name="Google Shape;70;p15"/>
          <p:cNvPicPr preferRelativeResize="0"/>
          <p:nvPr/>
        </p:nvPicPr>
        <p:blipFill>
          <a:blip r:embed="rId3">
            <a:alphaModFix/>
          </a:blip>
          <a:stretch>
            <a:fillRect/>
          </a:stretch>
        </p:blipFill>
        <p:spPr>
          <a:xfrm>
            <a:off x="0" y="1652351"/>
            <a:ext cx="9144003" cy="17591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311700" y="11123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tr" sz="2720"/>
              <a:t>Q2</a:t>
            </a:r>
            <a:endParaRPr b="1" sz="2720"/>
          </a:p>
        </p:txBody>
      </p:sp>
      <p:sp>
        <p:nvSpPr>
          <p:cNvPr id="76" name="Google Shape;76;p16"/>
          <p:cNvSpPr txBox="1"/>
          <p:nvPr/>
        </p:nvSpPr>
        <p:spPr>
          <a:xfrm>
            <a:off x="311700" y="2200050"/>
            <a:ext cx="8520600" cy="615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rgbClr val="000000"/>
              </a:buClr>
              <a:buSzPts val="1100"/>
              <a:buFont typeface="Arial"/>
              <a:buNone/>
            </a:pPr>
            <a:r>
              <a:rPr lang="tr" sz="1300">
                <a:solidFill>
                  <a:schemeClr val="dk1"/>
                </a:solidFill>
              </a:rPr>
              <a:t>Next, we want to measure or estimate lifetime value from this data. Apply appropriate methods and provide an estimate of player lifetime value for the game.</a:t>
            </a:r>
            <a:endParaRPr sz="13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343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Q2.1</a:t>
            </a:r>
            <a:endParaRPr sz="2720">
              <a:solidFill>
                <a:schemeClr val="accent3"/>
              </a:solidFill>
            </a:endParaRPr>
          </a:p>
        </p:txBody>
      </p:sp>
      <p:sp>
        <p:nvSpPr>
          <p:cNvPr id="82" name="Google Shape;82;p17"/>
          <p:cNvSpPr txBox="1"/>
          <p:nvPr/>
        </p:nvSpPr>
        <p:spPr>
          <a:xfrm>
            <a:off x="781100" y="406575"/>
            <a:ext cx="7581900" cy="978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0"/>
              </a:spcAft>
              <a:buNone/>
            </a:pPr>
            <a:r>
              <a:rPr b="1" lang="tr" sz="1700">
                <a:solidFill>
                  <a:schemeClr val="dk1"/>
                </a:solidFill>
              </a:rPr>
              <a:t>1. Core Methodology: 4-step approach.</a:t>
            </a:r>
            <a:endParaRPr b="1" sz="2000">
              <a:solidFill>
                <a:schemeClr val="dk1"/>
              </a:solidFill>
            </a:endParaRPr>
          </a:p>
          <a:p>
            <a:pPr indent="0" lvl="0" marL="0" rtl="0" algn="ctr">
              <a:lnSpc>
                <a:spcPct val="115000"/>
              </a:lnSpc>
              <a:spcBef>
                <a:spcPts val="1800"/>
              </a:spcBef>
              <a:spcAft>
                <a:spcPts val="400"/>
              </a:spcAft>
              <a:buNone/>
            </a:pPr>
            <a:r>
              <a:t/>
            </a:r>
            <a:endParaRPr b="1" sz="1700">
              <a:solidFill>
                <a:schemeClr val="dk1"/>
              </a:solidFill>
            </a:endParaRPr>
          </a:p>
        </p:txBody>
      </p:sp>
      <p:sp>
        <p:nvSpPr>
          <p:cNvPr id="83" name="Google Shape;83;p17"/>
          <p:cNvSpPr txBox="1"/>
          <p:nvPr/>
        </p:nvSpPr>
        <p:spPr>
          <a:xfrm>
            <a:off x="1897150" y="852975"/>
            <a:ext cx="53496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tr" sz="1100">
                <a:solidFill>
                  <a:schemeClr val="dk1"/>
                </a:solidFill>
              </a:rPr>
              <a:t>The logic follows a 4-step process for mobile gaming LTV:</a:t>
            </a:r>
            <a:endParaRPr/>
          </a:p>
        </p:txBody>
      </p:sp>
      <p:sp>
        <p:nvSpPr>
          <p:cNvPr id="84" name="Google Shape;84;p17"/>
          <p:cNvSpPr txBox="1"/>
          <p:nvPr/>
        </p:nvSpPr>
        <p:spPr>
          <a:xfrm>
            <a:off x="1558150" y="4743300"/>
            <a:ext cx="6027600" cy="40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tr" u="sng">
                <a:solidFill>
                  <a:srgbClr val="3C78D8"/>
                </a:solidFill>
                <a:hlinkClick r:id="rId3">
                  <a:extLst>
                    <a:ext uri="{A12FA001-AC4F-418D-AE19-62706E023703}">
                      <ahyp:hlinkClr val="tx"/>
                    </a:ext>
                  </a:extLst>
                </a:hlinkClick>
              </a:rPr>
              <a:t>&gt; Source code &amp; methodology link &lt;</a:t>
            </a:r>
            <a:endParaRPr b="1">
              <a:solidFill>
                <a:srgbClr val="3C78D8"/>
              </a:solidFill>
            </a:endParaRPr>
          </a:p>
        </p:txBody>
      </p:sp>
      <p:graphicFrame>
        <p:nvGraphicFramePr>
          <p:cNvPr id="85" name="Google Shape;85;p17"/>
          <p:cNvGraphicFramePr/>
          <p:nvPr/>
        </p:nvGraphicFramePr>
        <p:xfrm>
          <a:off x="638125" y="2076575"/>
          <a:ext cx="3000000" cy="3000000"/>
        </p:xfrm>
        <a:graphic>
          <a:graphicData uri="http://schemas.openxmlformats.org/drawingml/2006/table">
            <a:tbl>
              <a:tblPr>
                <a:noFill/>
                <a:tableStyleId>{83383AFD-4F68-4535-BF46-1FAF93763E93}</a:tableStyleId>
              </a:tblPr>
              <a:tblGrid>
                <a:gridCol w="1219200"/>
                <a:gridCol w="1266825"/>
                <a:gridCol w="2771775"/>
                <a:gridCol w="2609850"/>
              </a:tblGrid>
              <a:tr h="200025">
                <a:tc>
                  <a:txBody>
                    <a:bodyPr/>
                    <a:lstStyle/>
                    <a:p>
                      <a:pPr indent="0" lvl="0" marL="0" rtl="0" algn="ctr">
                        <a:lnSpc>
                          <a:spcPct val="115000"/>
                        </a:lnSpc>
                        <a:spcBef>
                          <a:spcPts val="0"/>
                        </a:spcBef>
                        <a:spcAft>
                          <a:spcPts val="0"/>
                        </a:spcAft>
                        <a:buNone/>
                      </a:pPr>
                      <a:r>
                        <a:rPr lang="tr" sz="1000"/>
                        <a:t>Phase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tr" sz="1000"/>
                        <a:t>Step</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tr" sz="1000"/>
                        <a:t>Technical Logic</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tr" sz="1000"/>
                        <a:t>Impact &amp; Rationale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r>
              <a:tr h="609600">
                <a:tc rowSpan="2">
                  <a:txBody>
                    <a:bodyPr/>
                    <a:lstStyle/>
                    <a:p>
                      <a:pPr indent="0" lvl="0" marL="0" rtl="0" algn="ctr">
                        <a:lnSpc>
                          <a:spcPct val="115000"/>
                        </a:lnSpc>
                        <a:spcBef>
                          <a:spcPts val="0"/>
                        </a:spcBef>
                        <a:spcAft>
                          <a:spcPts val="0"/>
                        </a:spcAft>
                        <a:buNone/>
                      </a:pPr>
                      <a:r>
                        <a:rPr b="1" lang="tr" sz="1000"/>
                        <a:t>I. Data Preprocessing</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tr" sz="1000"/>
                        <a:t>1. Data Scrubbing</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tr" sz="1000"/>
                        <a:t>Removed rows with 0 installs but &gt;$0 revenue.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Eliminates legacy noise (approx. 6.3% or $2,533.84). Ensures the model only reflects new user behavior.</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5775">
                <a:tc vMerge="1"/>
                <a:tc>
                  <a:txBody>
                    <a:bodyPr/>
                    <a:lstStyle/>
                    <a:p>
                      <a:pPr indent="0" lvl="0" marL="0" rtl="0" algn="ctr">
                        <a:lnSpc>
                          <a:spcPct val="115000"/>
                        </a:lnSpc>
                        <a:spcBef>
                          <a:spcPts val="0"/>
                        </a:spcBef>
                        <a:spcAft>
                          <a:spcPts val="0"/>
                        </a:spcAft>
                        <a:buNone/>
                      </a:pPr>
                      <a:r>
                        <a:rPr b="1" lang="tr" sz="1000"/>
                        <a:t>2. Mature Cohort ARPU</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tr" sz="1000"/>
                        <a:t>Filtered for cohorts with ≥30 days of tenure.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Prevents dilution. Newer users haven't reached D30 yet; including them would artificially deflate the ARPU.</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76275">
                <a:tc rowSpan="2">
                  <a:txBody>
                    <a:bodyPr/>
                    <a:lstStyle/>
                    <a:p>
                      <a:pPr indent="0" lvl="0" marL="0" rtl="0" algn="ctr">
                        <a:lnSpc>
                          <a:spcPct val="115000"/>
                        </a:lnSpc>
                        <a:spcBef>
                          <a:spcPts val="0"/>
                        </a:spcBef>
                        <a:spcAft>
                          <a:spcPts val="0"/>
                        </a:spcAft>
                        <a:buNone/>
                      </a:pPr>
                      <a:r>
                        <a:rPr b="1" lang="tr" sz="1000"/>
                        <a:t>II. Predictive Modeling</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tr" sz="1000"/>
                        <a:t>3. Curve Fitting</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tr" sz="1000"/>
                        <a:t>Applied Logarithmic and Power-law models via scipy.optimize.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Identifies the mathematical decay/growth pattern that best fits the first 30 days of realized spend.</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vMerge="1"/>
                <a:tc>
                  <a:txBody>
                    <a:bodyPr/>
                    <a:lstStyle/>
                    <a:p>
                      <a:pPr indent="0" lvl="0" marL="0" rtl="0" algn="ctr">
                        <a:lnSpc>
                          <a:spcPct val="115000"/>
                        </a:lnSpc>
                        <a:spcBef>
                          <a:spcPts val="0"/>
                        </a:spcBef>
                        <a:spcAft>
                          <a:spcPts val="0"/>
                        </a:spcAft>
                        <a:buNone/>
                      </a:pPr>
                      <a:r>
                        <a:rPr b="1" lang="tr" sz="1000"/>
                        <a:t>4. Extrapolation</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tr" sz="1000"/>
                        <a:t>Time-series extension of the fitted curve.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Forecasts the LTV trajectory out to Day 360 to determine long-term ROI.</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6" name="Google Shape;86;p17"/>
          <p:cNvSpPr/>
          <p:nvPr/>
        </p:nvSpPr>
        <p:spPr>
          <a:xfrm>
            <a:off x="311700" y="2421413"/>
            <a:ext cx="227400" cy="20241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p:nvPr/>
        </p:nvSpPr>
        <p:spPr>
          <a:xfrm>
            <a:off x="2359325" y="2716413"/>
            <a:ext cx="227400" cy="3030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7"/>
          <p:cNvSpPr/>
          <p:nvPr/>
        </p:nvSpPr>
        <p:spPr>
          <a:xfrm>
            <a:off x="2359325" y="3367463"/>
            <a:ext cx="227400" cy="3030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7"/>
          <p:cNvSpPr/>
          <p:nvPr/>
        </p:nvSpPr>
        <p:spPr>
          <a:xfrm>
            <a:off x="2359325" y="3950613"/>
            <a:ext cx="227400" cy="3030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7"/>
          <p:cNvSpPr txBox="1"/>
          <p:nvPr/>
        </p:nvSpPr>
        <p:spPr>
          <a:xfrm>
            <a:off x="35800" y="1206963"/>
            <a:ext cx="9072300" cy="70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tr" sz="1100">
                <a:solidFill>
                  <a:schemeClr val="dk1"/>
                </a:solidFill>
              </a:rPr>
              <a:t>To ensure the LTV estimate is not diluted by irrelevant data, I applied 2 critical preprocessing steps: </a:t>
            </a:r>
            <a:endParaRPr sz="1100">
              <a:solidFill>
                <a:schemeClr val="dk1"/>
              </a:solidFill>
            </a:endParaRPr>
          </a:p>
          <a:p>
            <a:pPr indent="0" lvl="0" marL="0" rtl="0" algn="ctr">
              <a:lnSpc>
                <a:spcPct val="115000"/>
              </a:lnSpc>
              <a:spcBef>
                <a:spcPts val="1200"/>
              </a:spcBef>
              <a:spcAft>
                <a:spcPts val="1200"/>
              </a:spcAft>
              <a:buNone/>
            </a:pPr>
            <a:r>
              <a:rPr lang="tr" sz="1100">
                <a:solidFill>
                  <a:schemeClr val="dk1"/>
                </a:solidFill>
              </a:rPr>
              <a:t>1.</a:t>
            </a:r>
            <a:r>
              <a:rPr b="1" lang="tr" sz="1000">
                <a:solidFill>
                  <a:schemeClr val="dk1"/>
                </a:solidFill>
              </a:rPr>
              <a:t>Data Scrubbing, 2.Mature Cohort ARPU, </a:t>
            </a:r>
            <a:r>
              <a:rPr lang="tr" sz="1000">
                <a:solidFill>
                  <a:schemeClr val="dk1"/>
                </a:solidFill>
              </a:rPr>
              <a:t>then analyzed with</a:t>
            </a:r>
            <a:r>
              <a:rPr b="1" lang="tr" sz="1000">
                <a:solidFill>
                  <a:schemeClr val="dk1"/>
                </a:solidFill>
              </a:rPr>
              <a:t> 3.Curve fitting 4.exploration.</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43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Q2.3</a:t>
            </a:r>
            <a:endParaRPr sz="2720">
              <a:solidFill>
                <a:schemeClr val="accent3"/>
              </a:solidFill>
            </a:endParaRPr>
          </a:p>
        </p:txBody>
      </p:sp>
      <p:sp>
        <p:nvSpPr>
          <p:cNvPr id="96" name="Google Shape;96;p18"/>
          <p:cNvSpPr txBox="1"/>
          <p:nvPr/>
        </p:nvSpPr>
        <p:spPr>
          <a:xfrm>
            <a:off x="1818013" y="213875"/>
            <a:ext cx="5508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tr" sz="1700">
                <a:solidFill>
                  <a:schemeClr val="dk1"/>
                </a:solidFill>
              </a:rPr>
              <a:t>2. Global LTV Estimation</a:t>
            </a:r>
            <a:endParaRPr/>
          </a:p>
        </p:txBody>
      </p:sp>
      <p:sp>
        <p:nvSpPr>
          <p:cNvPr id="97" name="Google Shape;97;p18"/>
          <p:cNvSpPr txBox="1"/>
          <p:nvPr/>
        </p:nvSpPr>
        <p:spPr>
          <a:xfrm>
            <a:off x="1688550" y="660275"/>
            <a:ext cx="5766900" cy="743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tr" sz="1100">
                <a:solidFill>
                  <a:schemeClr val="dk1"/>
                </a:solidFill>
              </a:rPr>
              <a:t>I applied two standard industry models to the cleaned data: </a:t>
            </a:r>
            <a:r>
              <a:rPr b="1" lang="tr" sz="1100">
                <a:solidFill>
                  <a:schemeClr val="dk1"/>
                </a:solidFill>
              </a:rPr>
              <a:t>Logarithmic</a:t>
            </a:r>
            <a:r>
              <a:rPr lang="tr" sz="1100">
                <a:solidFill>
                  <a:schemeClr val="dk1"/>
                </a:solidFill>
              </a:rPr>
              <a:t> (conservative) and </a:t>
            </a:r>
            <a:r>
              <a:rPr b="1" lang="tr" sz="1100">
                <a:solidFill>
                  <a:schemeClr val="dk1"/>
                </a:solidFill>
              </a:rPr>
              <a:t>Power Law</a:t>
            </a:r>
            <a:r>
              <a:rPr lang="tr" sz="1100">
                <a:solidFill>
                  <a:schemeClr val="dk1"/>
                </a:solidFill>
              </a:rPr>
              <a:t> (optimistic). The Power Law model showed a nearly perfect fit (R2=0.994).</a:t>
            </a:r>
            <a:endParaRPr sz="1200">
              <a:solidFill>
                <a:schemeClr val="dk1"/>
              </a:solidFill>
            </a:endParaRPr>
          </a:p>
        </p:txBody>
      </p:sp>
      <p:graphicFrame>
        <p:nvGraphicFramePr>
          <p:cNvPr id="98" name="Google Shape;98;p18"/>
          <p:cNvGraphicFramePr/>
          <p:nvPr/>
        </p:nvGraphicFramePr>
        <p:xfrm>
          <a:off x="5256325" y="1661725"/>
          <a:ext cx="3000000" cy="3000000"/>
        </p:xfrm>
        <a:graphic>
          <a:graphicData uri="http://schemas.openxmlformats.org/drawingml/2006/table">
            <a:tbl>
              <a:tblPr>
                <a:noFill/>
                <a:tableStyleId>{83383AFD-4F68-4535-BF46-1FAF93763E93}</a:tableStyleId>
              </a:tblPr>
              <a:tblGrid>
                <a:gridCol w="866775"/>
                <a:gridCol w="952500"/>
                <a:gridCol w="952500"/>
                <a:gridCol w="952500"/>
              </a:tblGrid>
              <a:tr h="373875">
                <a:tc>
                  <a:txBody>
                    <a:bodyPr/>
                    <a:lstStyle/>
                    <a:p>
                      <a:pPr indent="0" lvl="0" marL="0" rtl="0" algn="ctr">
                        <a:lnSpc>
                          <a:spcPct val="115000"/>
                        </a:lnSpc>
                        <a:spcBef>
                          <a:spcPts val="0"/>
                        </a:spcBef>
                        <a:spcAft>
                          <a:spcPts val="0"/>
                        </a:spcAft>
                        <a:buNone/>
                      </a:pPr>
                      <a:r>
                        <a:rPr lang="tr" sz="1000"/>
                        <a:t>Days Since Install</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Observed ARPU</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Conservative (Log)</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Optimistic (Power)</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205625">
                <a:tc>
                  <a:txBody>
                    <a:bodyPr/>
                    <a:lstStyle/>
                    <a:p>
                      <a:pPr indent="0" lvl="0" marL="0" rtl="0" algn="ctr">
                        <a:lnSpc>
                          <a:spcPct val="115000"/>
                        </a:lnSpc>
                        <a:spcBef>
                          <a:spcPts val="0"/>
                        </a:spcBef>
                        <a:spcAft>
                          <a:spcPts val="0"/>
                        </a:spcAft>
                        <a:buNone/>
                      </a:pPr>
                      <a:r>
                        <a:rPr lang="tr" sz="1000"/>
                        <a:t>Day 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$0.13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$0.13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5625">
                <a:tc>
                  <a:txBody>
                    <a:bodyPr/>
                    <a:lstStyle/>
                    <a:p>
                      <a:pPr indent="0" lvl="0" marL="0" rtl="0" algn="ctr">
                        <a:lnSpc>
                          <a:spcPct val="115000"/>
                        </a:lnSpc>
                        <a:spcBef>
                          <a:spcPts val="0"/>
                        </a:spcBef>
                        <a:spcAft>
                          <a:spcPts val="0"/>
                        </a:spcAft>
                        <a:buNone/>
                      </a:pPr>
                      <a:r>
                        <a:rPr lang="tr" sz="1000"/>
                        <a:t>Day 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$0.21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$0.21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$0.20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5625">
                <a:tc>
                  <a:txBody>
                    <a:bodyPr/>
                    <a:lstStyle/>
                    <a:p>
                      <a:pPr indent="0" lvl="0" marL="0" rtl="0" algn="ctr">
                        <a:lnSpc>
                          <a:spcPct val="115000"/>
                        </a:lnSpc>
                        <a:spcBef>
                          <a:spcPts val="0"/>
                        </a:spcBef>
                        <a:spcAft>
                          <a:spcPts val="0"/>
                        </a:spcAft>
                        <a:buNone/>
                      </a:pPr>
                      <a:r>
                        <a:rPr lang="tr" sz="1000"/>
                        <a:t>Day 30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$0.28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$0.28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$0.28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5625">
                <a:tc>
                  <a:txBody>
                    <a:bodyPr/>
                    <a:lstStyle/>
                    <a:p>
                      <a:pPr indent="0" lvl="0" marL="0" rtl="0" algn="ctr">
                        <a:lnSpc>
                          <a:spcPct val="115000"/>
                        </a:lnSpc>
                        <a:spcBef>
                          <a:spcPts val="0"/>
                        </a:spcBef>
                        <a:spcAft>
                          <a:spcPts val="0"/>
                        </a:spcAft>
                        <a:buNone/>
                      </a:pPr>
                      <a:r>
                        <a:rPr lang="tr" sz="1000"/>
                        <a:t>Day 180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$0.41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3875">
                <a:tc>
                  <a:txBody>
                    <a:bodyPr/>
                    <a:lstStyle/>
                    <a:p>
                      <a:pPr indent="0" lvl="0" marL="0" rtl="0" algn="ctr">
                        <a:lnSpc>
                          <a:spcPct val="115000"/>
                        </a:lnSpc>
                        <a:spcBef>
                          <a:spcPts val="0"/>
                        </a:spcBef>
                        <a:spcAft>
                          <a:spcPts val="0"/>
                        </a:spcAft>
                        <a:buNone/>
                      </a:pPr>
                      <a:r>
                        <a:rPr lang="tr" sz="1000"/>
                        <a:t>Day 360 (1-Year LTV)</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**$0.39**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$0.48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9" name="Google Shape;99;p18"/>
          <p:cNvSpPr txBox="1"/>
          <p:nvPr/>
        </p:nvSpPr>
        <p:spPr>
          <a:xfrm>
            <a:off x="5339013" y="3559950"/>
            <a:ext cx="37242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tr" sz="1100">
                <a:solidFill>
                  <a:schemeClr val="dk1"/>
                </a:solidFill>
              </a:rPr>
              <a:t>Final Recommendation:</a:t>
            </a:r>
            <a:r>
              <a:rPr lang="tr" sz="1100">
                <a:solidFill>
                  <a:schemeClr val="dk1"/>
                </a:solidFill>
              </a:rPr>
              <a:t> Use the </a:t>
            </a:r>
            <a:r>
              <a:rPr b="1" lang="tr" sz="1100">
                <a:solidFill>
                  <a:schemeClr val="dk1"/>
                </a:solidFill>
              </a:rPr>
              <a:t>$0.39</a:t>
            </a:r>
            <a:r>
              <a:rPr lang="tr" sz="1100">
                <a:solidFill>
                  <a:schemeClr val="dk1"/>
                </a:solidFill>
              </a:rPr>
              <a:t> </a:t>
            </a:r>
            <a:r>
              <a:rPr lang="tr" sz="1100" u="sng">
                <a:solidFill>
                  <a:schemeClr val="dk1"/>
                </a:solidFill>
              </a:rPr>
              <a:t>conservative</a:t>
            </a:r>
            <a:r>
              <a:rPr lang="tr" sz="1100">
                <a:solidFill>
                  <a:schemeClr val="dk1"/>
                </a:solidFill>
              </a:rPr>
              <a:t> estimate (Log model) for baseline budgeting and the </a:t>
            </a:r>
            <a:r>
              <a:rPr b="1" lang="tr" sz="1100">
                <a:solidFill>
                  <a:schemeClr val="dk1"/>
                </a:solidFill>
              </a:rPr>
              <a:t>$0.48</a:t>
            </a:r>
            <a:r>
              <a:rPr lang="tr" sz="1100">
                <a:solidFill>
                  <a:schemeClr val="dk1"/>
                </a:solidFill>
              </a:rPr>
              <a:t> </a:t>
            </a:r>
            <a:r>
              <a:rPr lang="tr" sz="1100" u="sng">
                <a:solidFill>
                  <a:schemeClr val="dk1"/>
                </a:solidFill>
              </a:rPr>
              <a:t>base/optimistic</a:t>
            </a:r>
            <a:r>
              <a:rPr lang="tr" sz="1100">
                <a:solidFill>
                  <a:schemeClr val="dk1"/>
                </a:solidFill>
              </a:rPr>
              <a:t> estimate (Power b=0.42) for high-quality channels like Google Ads.</a:t>
            </a:r>
            <a:endParaRPr/>
          </a:p>
        </p:txBody>
      </p:sp>
      <p:pic>
        <p:nvPicPr>
          <p:cNvPr id="100" name="Google Shape;100;p18"/>
          <p:cNvPicPr preferRelativeResize="0"/>
          <p:nvPr/>
        </p:nvPicPr>
        <p:blipFill rotWithShape="1">
          <a:blip r:embed="rId3">
            <a:alphaModFix/>
          </a:blip>
          <a:srcRect b="2806" l="4180" r="7254" t="6095"/>
          <a:stretch/>
        </p:blipFill>
        <p:spPr>
          <a:xfrm>
            <a:off x="-12" y="1403675"/>
            <a:ext cx="5212525" cy="32166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343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Q2.4</a:t>
            </a:r>
            <a:endParaRPr sz="2720">
              <a:solidFill>
                <a:schemeClr val="accent3"/>
              </a:solidFill>
            </a:endParaRPr>
          </a:p>
        </p:txBody>
      </p:sp>
      <p:sp>
        <p:nvSpPr>
          <p:cNvPr id="106" name="Google Shape;106;p19"/>
          <p:cNvSpPr txBox="1"/>
          <p:nvPr/>
        </p:nvSpPr>
        <p:spPr>
          <a:xfrm>
            <a:off x="1818000" y="406575"/>
            <a:ext cx="5508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tr" sz="1700">
                <a:solidFill>
                  <a:schemeClr val="dk1"/>
                </a:solidFill>
              </a:rPr>
              <a:t>3</a:t>
            </a:r>
            <a:r>
              <a:rPr b="1" lang="tr" sz="1700">
                <a:solidFill>
                  <a:schemeClr val="dk1"/>
                </a:solidFill>
              </a:rPr>
              <a:t>. </a:t>
            </a:r>
            <a:r>
              <a:rPr b="1" lang="tr" sz="1700">
                <a:solidFill>
                  <a:schemeClr val="dk1"/>
                </a:solidFill>
              </a:rPr>
              <a:t>Strategic Channel Analysis (ROI/ROAS)</a:t>
            </a:r>
            <a:endParaRPr/>
          </a:p>
        </p:txBody>
      </p:sp>
      <p:sp>
        <p:nvSpPr>
          <p:cNvPr id="107" name="Google Shape;107;p19"/>
          <p:cNvSpPr txBox="1"/>
          <p:nvPr/>
        </p:nvSpPr>
        <p:spPr>
          <a:xfrm>
            <a:off x="1688550" y="852975"/>
            <a:ext cx="5766900" cy="54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tr" sz="1100">
                <a:solidFill>
                  <a:schemeClr val="dk1"/>
                </a:solidFill>
              </a:rPr>
              <a:t>Projecting LTV by acquisition source reveals a massive disparity in player quality, which is vital for your marketing strategy:</a:t>
            </a:r>
            <a:endParaRPr sz="1200">
              <a:solidFill>
                <a:schemeClr val="dk1"/>
              </a:solidFill>
            </a:endParaRPr>
          </a:p>
        </p:txBody>
      </p:sp>
      <p:sp>
        <p:nvSpPr>
          <p:cNvPr id="108" name="Google Shape;108;p19"/>
          <p:cNvSpPr txBox="1"/>
          <p:nvPr/>
        </p:nvSpPr>
        <p:spPr>
          <a:xfrm>
            <a:off x="503850" y="4293900"/>
            <a:ext cx="8136300" cy="7743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tr" sz="1100">
                <a:solidFill>
                  <a:schemeClr val="dk1"/>
                </a:solidFill>
              </a:rPr>
              <a:t>Google Ads</a:t>
            </a:r>
            <a:r>
              <a:rPr lang="tr" sz="1100">
                <a:solidFill>
                  <a:schemeClr val="dk1"/>
                </a:solidFill>
              </a:rPr>
              <a:t> is your most successful channel, with an LTV nearly double the game average.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tr" sz="1100">
                <a:solidFill>
                  <a:schemeClr val="dk1"/>
                </a:solidFill>
              </a:rPr>
              <a:t>Facebook</a:t>
            </a:r>
            <a:r>
              <a:rPr lang="tr" sz="1100">
                <a:solidFill>
                  <a:schemeClr val="dk1"/>
                </a:solidFill>
              </a:rPr>
              <a:t> is currently failing to monetize significantly in this dataset; the LTV is nearly non-existent despite the high install volume. More details shown in data quality tool of my </a:t>
            </a:r>
            <a:r>
              <a:rPr lang="tr" sz="1100" u="sng">
                <a:solidFill>
                  <a:srgbClr val="3C78D8"/>
                </a:solidFill>
                <a:hlinkClick r:id="rId3">
                  <a:extLst>
                    <a:ext uri="{A12FA001-AC4F-418D-AE19-62706E023703}">
                      <ahyp:hlinkClr val="tx"/>
                    </a:ext>
                  </a:extLst>
                </a:hlinkClick>
              </a:rPr>
              <a:t>Tableau dashboard</a:t>
            </a:r>
            <a:r>
              <a:rPr lang="tr" sz="1300">
                <a:solidFill>
                  <a:srgbClr val="3C78D8"/>
                </a:solidFill>
              </a:rPr>
              <a:t>.</a:t>
            </a:r>
            <a:endParaRPr sz="1300">
              <a:solidFill>
                <a:srgbClr val="3C78D8"/>
              </a:solidFill>
            </a:endParaRPr>
          </a:p>
        </p:txBody>
      </p:sp>
      <p:graphicFrame>
        <p:nvGraphicFramePr>
          <p:cNvPr id="109" name="Google Shape;109;p19"/>
          <p:cNvGraphicFramePr/>
          <p:nvPr/>
        </p:nvGraphicFramePr>
        <p:xfrm>
          <a:off x="302000" y="2760050"/>
          <a:ext cx="3000000" cy="3000000"/>
        </p:xfrm>
        <a:graphic>
          <a:graphicData uri="http://schemas.openxmlformats.org/drawingml/2006/table">
            <a:tbl>
              <a:tblPr>
                <a:noFill/>
                <a:tableStyleId>{83383AFD-4F68-4535-BF46-1FAF93763E93}</a:tableStyleId>
              </a:tblPr>
              <a:tblGrid>
                <a:gridCol w="866775"/>
                <a:gridCol w="952500"/>
                <a:gridCol w="952500"/>
                <a:gridCol w="952500"/>
                <a:gridCol w="1590675"/>
              </a:tblGrid>
              <a:tr h="333375">
                <a:tc>
                  <a:txBody>
                    <a:bodyPr/>
                    <a:lstStyle/>
                    <a:p>
                      <a:pPr indent="0" lvl="0" marL="0" rtl="0" algn="ctr">
                        <a:lnSpc>
                          <a:spcPct val="115000"/>
                        </a:lnSpc>
                        <a:spcBef>
                          <a:spcPts val="0"/>
                        </a:spcBef>
                        <a:spcAft>
                          <a:spcPts val="0"/>
                        </a:spcAft>
                        <a:buNone/>
                      </a:pPr>
                      <a:r>
                        <a:rPr lang="tr" sz="1000"/>
                        <a:t>Channel</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Avg. CPI</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Estimated 360-Day LTV</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Projected ROAS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Verdict</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247650">
                <a:tc>
                  <a:txBody>
                    <a:bodyPr/>
                    <a:lstStyle/>
                    <a:p>
                      <a:pPr indent="0" lvl="0" marL="0" rtl="0" algn="ctr">
                        <a:lnSpc>
                          <a:spcPct val="115000"/>
                        </a:lnSpc>
                        <a:spcBef>
                          <a:spcPts val="0"/>
                        </a:spcBef>
                        <a:spcAft>
                          <a:spcPts val="0"/>
                        </a:spcAft>
                        <a:buNone/>
                      </a:pPr>
                      <a:r>
                        <a:rPr b="1" lang="tr" sz="1000"/>
                        <a:t>Google Ads</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$0.32</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**$0.49**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tr" sz="1000"/>
                        <a:t>153</a:t>
                      </a:r>
                      <a:r>
                        <a:rPr b="1" lang="tr" sz="1000"/>
                        <a:t>%</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 Primary Scaling Lever</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650">
                <a:tc>
                  <a:txBody>
                    <a:bodyPr/>
                    <a:lstStyle/>
                    <a:p>
                      <a:pPr indent="0" lvl="0" marL="0" rtl="0" algn="ctr">
                        <a:lnSpc>
                          <a:spcPct val="115000"/>
                        </a:lnSpc>
                        <a:spcBef>
                          <a:spcPts val="0"/>
                        </a:spcBef>
                        <a:spcAft>
                          <a:spcPts val="0"/>
                        </a:spcAft>
                        <a:buNone/>
                      </a:pPr>
                      <a:r>
                        <a:rPr b="1" lang="tr" sz="1000"/>
                        <a:t>Unity Ads</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$0.79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**$0.35**</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45%</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 High Cost, Low Value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650">
                <a:tc>
                  <a:txBody>
                    <a:bodyPr/>
                    <a:lstStyle/>
                    <a:p>
                      <a:pPr indent="0" lvl="0" marL="0" rtl="0" algn="ctr">
                        <a:lnSpc>
                          <a:spcPct val="115000"/>
                        </a:lnSpc>
                        <a:spcBef>
                          <a:spcPts val="0"/>
                        </a:spcBef>
                        <a:spcAft>
                          <a:spcPts val="0"/>
                        </a:spcAft>
                        <a:buNone/>
                      </a:pPr>
                      <a:r>
                        <a:rPr b="1" lang="tr" sz="1000"/>
                        <a:t>Facebook</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$0.49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**$0.03**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7%</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 Immediate Stop</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650">
                <a:tc>
                  <a:txBody>
                    <a:bodyPr/>
                    <a:lstStyle/>
                    <a:p>
                      <a:pPr indent="0" lvl="0" marL="0" rtl="0" algn="ctr">
                        <a:lnSpc>
                          <a:spcPct val="115000"/>
                        </a:lnSpc>
                        <a:spcBef>
                          <a:spcPts val="0"/>
                        </a:spcBef>
                        <a:spcAft>
                          <a:spcPts val="0"/>
                        </a:spcAft>
                        <a:buNone/>
                      </a:pPr>
                      <a:r>
                        <a:rPr b="1" lang="tr" sz="1000"/>
                        <a:t>Organic</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$0.00</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$0.54</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 Strong Baseline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0" name="Google Shape;110;p19"/>
          <p:cNvSpPr txBox="1"/>
          <p:nvPr/>
        </p:nvSpPr>
        <p:spPr>
          <a:xfrm>
            <a:off x="6304900" y="2800875"/>
            <a:ext cx="2537100" cy="9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000">
                <a:solidFill>
                  <a:schemeClr val="dk2"/>
                </a:solidFill>
              </a:rPr>
              <a:t>Performance should be interpreted cautiously if driven by low volume or extreme revenue outliers.(Please use interactive explorer tool I built in my </a:t>
            </a:r>
            <a:r>
              <a:rPr lang="tr" sz="1000" u="sng">
                <a:solidFill>
                  <a:srgbClr val="3C78D8"/>
                </a:solidFill>
                <a:hlinkClick r:id="rId4">
                  <a:extLst>
                    <a:ext uri="{A12FA001-AC4F-418D-AE19-62706E023703}">
                      <ahyp:hlinkClr val="tx"/>
                    </a:ext>
                  </a:extLst>
                </a:hlinkClick>
              </a:rPr>
              <a:t>Tableau dashboard</a:t>
            </a:r>
            <a:r>
              <a:rPr lang="tr" sz="1000">
                <a:solidFill>
                  <a:schemeClr val="dk2"/>
                </a:solidFill>
              </a:rPr>
              <a:t>)</a:t>
            </a:r>
            <a:endParaRPr sz="1000">
              <a:solidFill>
                <a:schemeClr val="dk2"/>
              </a:solidFill>
            </a:endParaRPr>
          </a:p>
        </p:txBody>
      </p:sp>
      <p:cxnSp>
        <p:nvCxnSpPr>
          <p:cNvPr id="111" name="Google Shape;111;p19"/>
          <p:cNvCxnSpPr>
            <a:endCxn id="110" idx="1"/>
          </p:cNvCxnSpPr>
          <p:nvPr/>
        </p:nvCxnSpPr>
        <p:spPr>
          <a:xfrm>
            <a:off x="5591200" y="3246675"/>
            <a:ext cx="713700" cy="38700"/>
          </a:xfrm>
          <a:prstGeom prst="straightConnector1">
            <a:avLst/>
          </a:prstGeom>
          <a:noFill/>
          <a:ln cap="flat" cmpd="sng" w="28575">
            <a:solidFill>
              <a:schemeClr val="dk2"/>
            </a:solidFill>
            <a:prstDash val="solid"/>
            <a:round/>
            <a:headEnd len="med" w="med" type="none"/>
            <a:tailEnd len="med" w="med" type="triangle"/>
          </a:ln>
        </p:spPr>
      </p:cxnSp>
      <p:graphicFrame>
        <p:nvGraphicFramePr>
          <p:cNvPr id="112" name="Google Shape;112;p19"/>
          <p:cNvGraphicFramePr/>
          <p:nvPr/>
        </p:nvGraphicFramePr>
        <p:xfrm>
          <a:off x="2420700" y="1475575"/>
          <a:ext cx="3000000" cy="3000000"/>
        </p:xfrm>
        <a:graphic>
          <a:graphicData uri="http://schemas.openxmlformats.org/drawingml/2006/table">
            <a:tbl>
              <a:tblPr>
                <a:noFill/>
                <a:tableStyleId>{83383AFD-4F68-4535-BF46-1FAF93763E93}</a:tableStyleId>
              </a:tblPr>
              <a:tblGrid>
                <a:gridCol w="952500"/>
                <a:gridCol w="952500"/>
                <a:gridCol w="952500"/>
                <a:gridCol w="952500"/>
              </a:tblGrid>
              <a:tr h="200025">
                <a:tc>
                  <a:txBody>
                    <a:bodyPr/>
                    <a:lstStyle/>
                    <a:p>
                      <a:pPr indent="0" lvl="0" marL="0" rtl="0" algn="ctr">
                        <a:lnSpc>
                          <a:spcPct val="115000"/>
                        </a:lnSpc>
                        <a:spcBef>
                          <a:spcPts val="0"/>
                        </a:spcBef>
                        <a:spcAft>
                          <a:spcPts val="0"/>
                        </a:spcAft>
                        <a:buNone/>
                      </a:pPr>
                      <a:r>
                        <a:rPr b="1" lang="tr" sz="1000"/>
                        <a:t>Model</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Multiplier</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360D LTV</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ROAS</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200025">
                <a:tc>
                  <a:txBody>
                    <a:bodyPr/>
                    <a:lstStyle/>
                    <a:p>
                      <a:pPr indent="0" lvl="0" marL="0" rtl="0" algn="ctr">
                        <a:lnSpc>
                          <a:spcPct val="115000"/>
                        </a:lnSpc>
                        <a:spcBef>
                          <a:spcPts val="0"/>
                        </a:spcBef>
                        <a:spcAft>
                          <a:spcPts val="0"/>
                        </a:spcAft>
                        <a:buNone/>
                      </a:pPr>
                      <a:r>
                        <a:rPr lang="tr" sz="1000"/>
                        <a:t>Log</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1.73×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$0.42</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131%</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4325">
                <a:tc>
                  <a:txBody>
                    <a:bodyPr/>
                    <a:lstStyle/>
                    <a:p>
                      <a:pPr indent="0" lvl="0" marL="0" rtl="0" algn="ctr">
                        <a:lnSpc>
                          <a:spcPct val="115000"/>
                        </a:lnSpc>
                        <a:spcBef>
                          <a:spcPts val="0"/>
                        </a:spcBef>
                        <a:spcAft>
                          <a:spcPts val="0"/>
                        </a:spcAft>
                        <a:buNone/>
                      </a:pPr>
                      <a:r>
                        <a:rPr lang="tr" sz="1000"/>
                        <a:t>Power (b = 0.42)</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2.05×</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$0.49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153%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tr" sz="1000"/>
                        <a:t>Power (b = 0.5)</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3.46×</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$0.83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259%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113" name="Google Shape;113;p19"/>
          <p:cNvCxnSpPr/>
          <p:nvPr/>
        </p:nvCxnSpPr>
        <p:spPr>
          <a:xfrm flipH="1">
            <a:off x="3740800" y="2172200"/>
            <a:ext cx="1838700" cy="1054500"/>
          </a:xfrm>
          <a:prstGeom prst="straightConnector1">
            <a:avLst/>
          </a:prstGeom>
          <a:noFill/>
          <a:ln cap="flat" cmpd="sng" w="28575">
            <a:solidFill>
              <a:schemeClr val="dk2"/>
            </a:solidFill>
            <a:prstDash val="solid"/>
            <a:round/>
            <a:headEnd len="med" w="med" type="none"/>
            <a:tailEnd len="med" w="med" type="triangle"/>
          </a:ln>
        </p:spPr>
      </p:cxnSp>
      <p:sp>
        <p:nvSpPr>
          <p:cNvPr id="114" name="Google Shape;114;p19"/>
          <p:cNvSpPr txBox="1"/>
          <p:nvPr/>
        </p:nvSpPr>
        <p:spPr>
          <a:xfrm>
            <a:off x="6735300" y="1596075"/>
            <a:ext cx="2408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tr" sz="900">
                <a:solidFill>
                  <a:schemeClr val="dk1"/>
                </a:solidFill>
              </a:rPr>
              <a:t>Assumption: </a:t>
            </a:r>
            <a:r>
              <a:rPr lang="tr" sz="900">
                <a:solidFill>
                  <a:schemeClr val="dk1"/>
                </a:solidFill>
              </a:rPr>
              <a:t>If the goal is </a:t>
            </a:r>
            <a:r>
              <a:rPr b="1" lang="tr" sz="900">
                <a:solidFill>
                  <a:schemeClr val="dk1"/>
                </a:solidFill>
              </a:rPr>
              <a:t>scalable, realistic (slightly aggressive) ad budgeting</a:t>
            </a:r>
            <a:r>
              <a:rPr lang="tr" sz="900">
                <a:solidFill>
                  <a:schemeClr val="dk1"/>
                </a:solidFill>
              </a:rPr>
              <a:t>: </a:t>
            </a:r>
            <a:r>
              <a:rPr b="1" lang="tr" sz="900">
                <a:solidFill>
                  <a:schemeClr val="dk1"/>
                </a:solidFill>
              </a:rPr>
              <a:t>Power b = 0.42 (153%)</a:t>
            </a:r>
            <a:r>
              <a:rPr lang="tr" sz="900">
                <a:solidFill>
                  <a:schemeClr val="dk1"/>
                </a:solidFill>
              </a:rPr>
              <a:t> is the best balance.</a:t>
            </a:r>
            <a:endParaRPr sz="1200"/>
          </a:p>
        </p:txBody>
      </p:sp>
      <p:cxnSp>
        <p:nvCxnSpPr>
          <p:cNvPr id="115" name="Google Shape;115;p19"/>
          <p:cNvCxnSpPr>
            <a:stCxn id="114" idx="1"/>
          </p:cNvCxnSpPr>
          <p:nvPr/>
        </p:nvCxnSpPr>
        <p:spPr>
          <a:xfrm flipH="1">
            <a:off x="5969400" y="1965525"/>
            <a:ext cx="765900" cy="873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11700" y="343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Q2.5</a:t>
            </a:r>
            <a:endParaRPr sz="2720">
              <a:solidFill>
                <a:schemeClr val="accent3"/>
              </a:solidFill>
            </a:endParaRPr>
          </a:p>
        </p:txBody>
      </p:sp>
      <p:sp>
        <p:nvSpPr>
          <p:cNvPr id="121" name="Google Shape;121;p20"/>
          <p:cNvSpPr txBox="1"/>
          <p:nvPr/>
        </p:nvSpPr>
        <p:spPr>
          <a:xfrm>
            <a:off x="1818000" y="406575"/>
            <a:ext cx="5508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tr" sz="1700">
                <a:solidFill>
                  <a:schemeClr val="dk1"/>
                </a:solidFill>
              </a:rPr>
              <a:t>4</a:t>
            </a:r>
            <a:r>
              <a:rPr b="1" lang="tr" sz="1700">
                <a:solidFill>
                  <a:schemeClr val="dk1"/>
                </a:solidFill>
              </a:rPr>
              <a:t>. Understanding Curve fitting</a:t>
            </a:r>
            <a:endParaRPr/>
          </a:p>
        </p:txBody>
      </p:sp>
      <p:sp>
        <p:nvSpPr>
          <p:cNvPr id="122" name="Google Shape;122;p20"/>
          <p:cNvSpPr txBox="1"/>
          <p:nvPr/>
        </p:nvSpPr>
        <p:spPr>
          <a:xfrm>
            <a:off x="1688550" y="852975"/>
            <a:ext cx="5766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tr" sz="1100">
                <a:solidFill>
                  <a:schemeClr val="dk1"/>
                </a:solidFill>
              </a:rPr>
              <a:t>The projections were generated using the following best-fit formulas:</a:t>
            </a:r>
            <a:endParaRPr sz="1200">
              <a:solidFill>
                <a:schemeClr val="dk1"/>
              </a:solidFill>
            </a:endParaRPr>
          </a:p>
        </p:txBody>
      </p:sp>
      <p:sp>
        <p:nvSpPr>
          <p:cNvPr id="123" name="Google Shape;123;p20"/>
          <p:cNvSpPr txBox="1"/>
          <p:nvPr/>
        </p:nvSpPr>
        <p:spPr>
          <a:xfrm>
            <a:off x="142375" y="1524025"/>
            <a:ext cx="3803400" cy="2957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tr" sz="1100">
                <a:solidFill>
                  <a:schemeClr val="dk1"/>
                </a:solidFill>
              </a:rPr>
              <a:t>Logarithmic Model:</a:t>
            </a:r>
            <a:r>
              <a:rPr lang="tr" sz="1100">
                <a:solidFill>
                  <a:schemeClr val="dk1"/>
                </a:solidFill>
              </a:rPr>
              <a:t> LTV(t)=0.045⋅ln(t)+0.121</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tr" sz="1100">
                <a:solidFill>
                  <a:schemeClr val="dk1"/>
                </a:solidFill>
              </a:rPr>
              <a:t>Power Law Model:</a:t>
            </a:r>
            <a:r>
              <a:rPr lang="tr" sz="1100">
                <a:solidFill>
                  <a:schemeClr val="dk1"/>
                </a:solidFill>
              </a:rPr>
              <a:t> LTV(t)=0.134⋅t0.217</a:t>
            </a:r>
            <a:endParaRPr sz="1100">
              <a:solidFill>
                <a:schemeClr val="dk1"/>
              </a:solidFill>
            </a:endParaRPr>
          </a:p>
          <a:p>
            <a:pPr indent="0" lvl="0" marL="0" rtl="0" algn="l">
              <a:lnSpc>
                <a:spcPct val="115000"/>
              </a:lnSpc>
              <a:spcBef>
                <a:spcPts val="1200"/>
              </a:spcBef>
              <a:spcAft>
                <a:spcPts val="0"/>
              </a:spcAft>
              <a:buNone/>
            </a:pPr>
            <a:r>
              <a:rPr lang="tr" sz="1100">
                <a:solidFill>
                  <a:schemeClr val="dk1"/>
                </a:solidFill>
              </a:rPr>
              <a:t>The visualization shows the actual data points (black dots) and how both models track them before projecting into the future. The flattening of the curve after Day 30 is typical for mobile games, where the highest monetization occurs in the first month.</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rPr b="1" lang="tr" sz="1100">
                <a:solidFill>
                  <a:schemeClr val="dk1"/>
                </a:solidFill>
              </a:rPr>
              <a:t>Summary Verdict:</a:t>
            </a:r>
            <a:r>
              <a:rPr lang="tr" sz="1100">
                <a:solidFill>
                  <a:schemeClr val="dk1"/>
                </a:solidFill>
              </a:rPr>
              <a:t> The game has a healthy monetization core of </a:t>
            </a:r>
            <a:r>
              <a:rPr b="1" lang="tr" sz="1100">
                <a:solidFill>
                  <a:schemeClr val="dk1"/>
                </a:solidFill>
              </a:rPr>
              <a:t>$0.39 - $0.48</a:t>
            </a:r>
            <a:r>
              <a:rPr lang="tr" sz="1100">
                <a:solidFill>
                  <a:schemeClr val="dk1"/>
                </a:solidFill>
              </a:rPr>
              <a:t>, but the marketing spend must be aggressively redirected toward </a:t>
            </a:r>
            <a:r>
              <a:rPr b="1" lang="tr" sz="1100">
                <a:solidFill>
                  <a:schemeClr val="dk1"/>
                </a:solidFill>
              </a:rPr>
              <a:t>Google Ads</a:t>
            </a:r>
            <a:r>
              <a:rPr lang="tr" sz="1100">
                <a:solidFill>
                  <a:schemeClr val="dk1"/>
                </a:solidFill>
              </a:rPr>
              <a:t> to maintain profitability.</a:t>
            </a:r>
            <a:endParaRPr sz="1100">
              <a:solidFill>
                <a:schemeClr val="dk1"/>
              </a:solidFill>
            </a:endParaRPr>
          </a:p>
        </p:txBody>
      </p:sp>
      <p:pic>
        <p:nvPicPr>
          <p:cNvPr id="124" name="Google Shape;124;p20"/>
          <p:cNvPicPr preferRelativeResize="0"/>
          <p:nvPr/>
        </p:nvPicPr>
        <p:blipFill rotWithShape="1">
          <a:blip r:embed="rId3">
            <a:alphaModFix/>
          </a:blip>
          <a:srcRect b="2806" l="4180" r="7254" t="6095"/>
          <a:stretch/>
        </p:blipFill>
        <p:spPr>
          <a:xfrm>
            <a:off x="3931463" y="1417125"/>
            <a:ext cx="5212525" cy="32166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11123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tr" sz="2720"/>
              <a:t>Q3</a:t>
            </a:r>
            <a:endParaRPr b="1" sz="2720"/>
          </a:p>
        </p:txBody>
      </p:sp>
      <p:sp>
        <p:nvSpPr>
          <p:cNvPr id="130" name="Google Shape;130;p21"/>
          <p:cNvSpPr txBox="1"/>
          <p:nvPr/>
        </p:nvSpPr>
        <p:spPr>
          <a:xfrm>
            <a:off x="311700" y="2200050"/>
            <a:ext cx="8520600" cy="84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tr" sz="1300">
                <a:solidFill>
                  <a:schemeClr val="dk1"/>
                </a:solidFill>
              </a:rPr>
              <a:t>We have a game that has been operational for two years and want to build a model that predicts ROAS for new players arriving in the game. How would you set up such a model? Spell out what data you need, what method(s) you would use and how, and what assumptions you may need to make.</a:t>
            </a:r>
            <a:endParaRPr sz="13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311700" y="280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Q3.1</a:t>
            </a:r>
            <a:endParaRPr sz="2720">
              <a:solidFill>
                <a:schemeClr val="accent3"/>
              </a:solidFill>
            </a:endParaRPr>
          </a:p>
        </p:txBody>
      </p:sp>
      <p:sp>
        <p:nvSpPr>
          <p:cNvPr id="136" name="Google Shape;136;p22"/>
          <p:cNvSpPr txBox="1"/>
          <p:nvPr/>
        </p:nvSpPr>
        <p:spPr>
          <a:xfrm>
            <a:off x="1818000" y="406575"/>
            <a:ext cx="5508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Clr>
                <a:schemeClr val="dk1"/>
              </a:buClr>
              <a:buSzPts val="1100"/>
              <a:buFont typeface="Arial"/>
              <a:buNone/>
            </a:pPr>
            <a:r>
              <a:rPr b="1" lang="tr" sz="1700">
                <a:solidFill>
                  <a:schemeClr val="dk1"/>
                </a:solidFill>
              </a:rPr>
              <a:t>Predictive ROAS Framework</a:t>
            </a:r>
            <a:endParaRPr/>
          </a:p>
        </p:txBody>
      </p:sp>
      <p:sp>
        <p:nvSpPr>
          <p:cNvPr id="137" name="Google Shape;137;p22"/>
          <p:cNvSpPr txBox="1"/>
          <p:nvPr/>
        </p:nvSpPr>
        <p:spPr>
          <a:xfrm>
            <a:off x="197688" y="1444275"/>
            <a:ext cx="8748600" cy="548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tr" sz="1100">
                <a:solidFill>
                  <a:schemeClr val="dk1"/>
                </a:solidFill>
              </a:rPr>
              <a:t>The Business Challenge:</a:t>
            </a:r>
            <a:r>
              <a:rPr lang="tr" sz="1100">
                <a:solidFill>
                  <a:schemeClr val="dk1"/>
                </a:solidFill>
              </a:rPr>
              <a:t> Waiting 180+ days for LTV to mature creates a </a:t>
            </a:r>
            <a:r>
              <a:rPr b="1" lang="tr" sz="1100">
                <a:solidFill>
                  <a:schemeClr val="dk1"/>
                </a:solidFill>
              </a:rPr>
              <a:t>growth bottleneck</a:t>
            </a:r>
            <a:r>
              <a:rPr lang="tr" sz="1100">
                <a:solidFill>
                  <a:schemeClr val="dk1"/>
                </a:solidFill>
              </a:rPr>
              <a:t> and carries high capital risk.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tr" sz="1100">
                <a:solidFill>
                  <a:schemeClr val="dk1"/>
                </a:solidFill>
              </a:rPr>
              <a:t>The Solution:</a:t>
            </a:r>
            <a:r>
              <a:rPr lang="tr" sz="1100">
                <a:solidFill>
                  <a:schemeClr val="dk1"/>
                </a:solidFill>
              </a:rPr>
              <a:t> A Day-3 Predictive Engine that forecasts Day-360 ROAS with </a:t>
            </a:r>
            <a:r>
              <a:rPr b="1" lang="tr" sz="1100">
                <a:solidFill>
                  <a:schemeClr val="dk1"/>
                </a:solidFill>
              </a:rPr>
              <a:t>85%+ accuracy</a:t>
            </a:r>
            <a:r>
              <a:rPr lang="tr" sz="1100">
                <a:solidFill>
                  <a:schemeClr val="dk1"/>
                </a:solidFill>
              </a:rPr>
              <a:t>.</a:t>
            </a:r>
            <a:endParaRPr sz="1100">
              <a:solidFill>
                <a:schemeClr val="dk1"/>
              </a:solidFill>
            </a:endParaRPr>
          </a:p>
        </p:txBody>
      </p:sp>
      <p:sp>
        <p:nvSpPr>
          <p:cNvPr id="138" name="Google Shape;138;p22"/>
          <p:cNvSpPr txBox="1"/>
          <p:nvPr/>
        </p:nvSpPr>
        <p:spPr>
          <a:xfrm>
            <a:off x="1688550" y="852975"/>
            <a:ext cx="57669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tr" sz="1200">
                <a:solidFill>
                  <a:schemeClr val="dk1"/>
                </a:solidFill>
              </a:rPr>
              <a:t>Moving from Reactive Reporting to Predictive Scaling</a:t>
            </a:r>
            <a:endParaRPr sz="1200">
              <a:solidFill>
                <a:schemeClr val="dk1"/>
              </a:solidFill>
            </a:endParaRPr>
          </a:p>
        </p:txBody>
      </p:sp>
      <p:graphicFrame>
        <p:nvGraphicFramePr>
          <p:cNvPr id="139" name="Google Shape;139;p22"/>
          <p:cNvGraphicFramePr/>
          <p:nvPr/>
        </p:nvGraphicFramePr>
        <p:xfrm>
          <a:off x="2405050" y="2214975"/>
          <a:ext cx="3000000" cy="3000000"/>
        </p:xfrm>
        <a:graphic>
          <a:graphicData uri="http://schemas.openxmlformats.org/drawingml/2006/table">
            <a:tbl>
              <a:tblPr>
                <a:noFill/>
                <a:tableStyleId>{83383AFD-4F68-4535-BF46-1FAF93763E93}</a:tableStyleId>
              </a:tblPr>
              <a:tblGrid>
                <a:gridCol w="952500"/>
                <a:gridCol w="952500"/>
                <a:gridCol w="2428875"/>
              </a:tblGrid>
              <a:tr h="200025">
                <a:tc>
                  <a:txBody>
                    <a:bodyPr/>
                    <a:lstStyle/>
                    <a:p>
                      <a:pPr indent="0" lvl="0" marL="0" rtl="0" algn="ctr">
                        <a:lnSpc>
                          <a:spcPct val="115000"/>
                        </a:lnSpc>
                        <a:spcBef>
                          <a:spcPts val="0"/>
                        </a:spcBef>
                        <a:spcAft>
                          <a:spcPts val="0"/>
                        </a:spcAft>
                        <a:buNone/>
                      </a:pPr>
                      <a:r>
                        <a:rPr b="1" lang="tr" sz="1000"/>
                        <a:t>Phase</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Component</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Key Activities &amp; Details</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333375">
                <a:tc>
                  <a:txBody>
                    <a:bodyPr/>
                    <a:lstStyle/>
                    <a:p>
                      <a:pPr indent="0" lvl="0" marL="0" rtl="0" algn="ctr">
                        <a:lnSpc>
                          <a:spcPct val="115000"/>
                        </a:lnSpc>
                        <a:spcBef>
                          <a:spcPts val="0"/>
                        </a:spcBef>
                        <a:spcAft>
                          <a:spcPts val="0"/>
                        </a:spcAft>
                        <a:buNone/>
                      </a:pPr>
                      <a:r>
                        <a:rPr lang="tr" sz="1000"/>
                        <a:t>Input</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Behavioral Telemetry</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Collects D0–D3 data points (Install, Tutorial completion, and First Session metrics).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5775">
                <a:tc>
                  <a:txBody>
                    <a:bodyPr/>
                    <a:lstStyle/>
                    <a:p>
                      <a:pPr indent="0" lvl="0" marL="0" rtl="0" algn="ctr">
                        <a:lnSpc>
                          <a:spcPct val="115000"/>
                        </a:lnSpc>
                        <a:spcBef>
                          <a:spcPts val="0"/>
                        </a:spcBef>
                        <a:spcAft>
                          <a:spcPts val="0"/>
                        </a:spcAft>
                        <a:buNone/>
                      </a:pPr>
                      <a:r>
                        <a:rPr lang="tr" sz="1000"/>
                        <a:t>Inference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ML-driven pLTV</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Machine learning models calculate the Predicted Lifetime Value based on early behavior.</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ctr">
                        <a:lnSpc>
                          <a:spcPct val="115000"/>
                        </a:lnSpc>
                        <a:spcBef>
                          <a:spcPts val="0"/>
                        </a:spcBef>
                        <a:spcAft>
                          <a:spcPts val="0"/>
                        </a:spcAft>
                        <a:buNone/>
                      </a:pPr>
                      <a:r>
                        <a:rPr lang="tr" sz="1000"/>
                        <a:t>Action</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Automated Budgeting</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Trigger-based adjustments to campaign spend: Scale, Hold, or Kill.</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0" name="Google Shape;140;p22"/>
          <p:cNvSpPr txBox="1"/>
          <p:nvPr/>
        </p:nvSpPr>
        <p:spPr>
          <a:xfrm>
            <a:off x="152400" y="4233575"/>
            <a:ext cx="8748600" cy="3540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tr" sz="1100">
                <a:solidFill>
                  <a:schemeClr val="dk1"/>
                </a:solidFill>
              </a:rPr>
              <a:t>The Decision Metric: </a:t>
            </a:r>
            <a:r>
              <a:rPr lang="tr" sz="1100" u="sng">
                <a:solidFill>
                  <a:schemeClr val="dk1"/>
                </a:solidFill>
              </a:rPr>
              <a:t>Predicted ROAS</a:t>
            </a:r>
            <a:r>
              <a:rPr lang="tr" sz="1100">
                <a:solidFill>
                  <a:schemeClr val="dk1"/>
                </a:solidFill>
              </a:rPr>
              <a:t> = ∑Predicted LTV</a:t>
            </a:r>
            <a:r>
              <a:rPr lang="tr" sz="800">
                <a:solidFill>
                  <a:schemeClr val="dk1"/>
                </a:solidFill>
              </a:rPr>
              <a:t>360</a:t>
            </a:r>
            <a:r>
              <a:rPr lang="tr" sz="1100">
                <a:solidFill>
                  <a:schemeClr val="dk1"/>
                </a:solidFill>
              </a:rPr>
              <a:t>​​ / </a:t>
            </a:r>
            <a:r>
              <a:rPr lang="tr" sz="1100">
                <a:solidFill>
                  <a:schemeClr val="dk1"/>
                </a:solidFill>
              </a:rPr>
              <a:t>∑Acquisition Cost</a:t>
            </a:r>
            <a:endParaRPr sz="1100">
              <a:solidFill>
                <a:schemeClr val="dk1"/>
              </a:solidFill>
            </a:endParaRPr>
          </a:p>
        </p:txBody>
      </p:sp>
      <p:sp>
        <p:nvSpPr>
          <p:cNvPr id="141" name="Google Shape;141;p22"/>
          <p:cNvSpPr/>
          <p:nvPr/>
        </p:nvSpPr>
        <p:spPr>
          <a:xfrm>
            <a:off x="1960200" y="2424525"/>
            <a:ext cx="333000" cy="14859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280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Q3.2</a:t>
            </a:r>
            <a:endParaRPr sz="2720">
              <a:solidFill>
                <a:schemeClr val="accent3"/>
              </a:solidFill>
            </a:endParaRPr>
          </a:p>
        </p:txBody>
      </p:sp>
      <p:sp>
        <p:nvSpPr>
          <p:cNvPr id="147" name="Google Shape;147;p23"/>
          <p:cNvSpPr txBox="1"/>
          <p:nvPr/>
        </p:nvSpPr>
        <p:spPr>
          <a:xfrm>
            <a:off x="155850" y="1147375"/>
            <a:ext cx="8832300" cy="548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tr" sz="1100">
                <a:solidFill>
                  <a:schemeClr val="dk1"/>
                </a:solidFill>
              </a:rPr>
              <a:t>Feature Windows:</a:t>
            </a:r>
            <a:r>
              <a:rPr lang="tr" sz="1100">
                <a:solidFill>
                  <a:schemeClr val="dk1"/>
                </a:solidFill>
              </a:rPr>
              <a:t> Snapshots taken at 24h (D1) and 72h (D3) to ensure early optimization without data leakage.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tr" sz="1100">
                <a:solidFill>
                  <a:schemeClr val="dk1"/>
                </a:solidFill>
              </a:rPr>
              <a:t>Key Predictor Categories:</a:t>
            </a:r>
            <a:endParaRPr sz="1100">
              <a:solidFill>
                <a:schemeClr val="dk1"/>
              </a:solidFill>
            </a:endParaRPr>
          </a:p>
        </p:txBody>
      </p:sp>
      <p:sp>
        <p:nvSpPr>
          <p:cNvPr id="148" name="Google Shape;148;p23"/>
          <p:cNvSpPr txBox="1"/>
          <p:nvPr/>
        </p:nvSpPr>
        <p:spPr>
          <a:xfrm>
            <a:off x="1818000" y="406575"/>
            <a:ext cx="5508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Clr>
                <a:schemeClr val="dk1"/>
              </a:buClr>
              <a:buSzPts val="1100"/>
              <a:buFont typeface="Arial"/>
              <a:buNone/>
            </a:pPr>
            <a:r>
              <a:rPr b="1" lang="tr" sz="1700">
                <a:solidFill>
                  <a:schemeClr val="dk1"/>
                </a:solidFill>
              </a:rPr>
              <a:t>Data Architecture &amp; Feature Engineering</a:t>
            </a:r>
            <a:endParaRPr/>
          </a:p>
        </p:txBody>
      </p:sp>
      <p:sp>
        <p:nvSpPr>
          <p:cNvPr id="149" name="Google Shape;149;p23"/>
          <p:cNvSpPr txBox="1"/>
          <p:nvPr/>
        </p:nvSpPr>
        <p:spPr>
          <a:xfrm>
            <a:off x="1688550" y="852975"/>
            <a:ext cx="5766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tr" sz="1100">
                <a:solidFill>
                  <a:schemeClr val="dk1"/>
                </a:solidFill>
              </a:rPr>
              <a:t>Identifying the High-Value Player</a:t>
            </a:r>
            <a:endParaRPr sz="1200">
              <a:solidFill>
                <a:schemeClr val="dk1"/>
              </a:solidFill>
            </a:endParaRPr>
          </a:p>
        </p:txBody>
      </p:sp>
      <p:graphicFrame>
        <p:nvGraphicFramePr>
          <p:cNvPr id="150" name="Google Shape;150;p23"/>
          <p:cNvGraphicFramePr/>
          <p:nvPr/>
        </p:nvGraphicFramePr>
        <p:xfrm>
          <a:off x="2105575" y="1792425"/>
          <a:ext cx="3000000" cy="3000000"/>
        </p:xfrm>
        <a:graphic>
          <a:graphicData uri="http://schemas.openxmlformats.org/drawingml/2006/table">
            <a:tbl>
              <a:tblPr>
                <a:noFill/>
                <a:tableStyleId>{83383AFD-4F68-4535-BF46-1FAF93763E93}</a:tableStyleId>
              </a:tblPr>
              <a:tblGrid>
                <a:gridCol w="952500"/>
                <a:gridCol w="952500"/>
                <a:gridCol w="2428875"/>
              </a:tblGrid>
              <a:tr h="333375">
                <a:tc>
                  <a:txBody>
                    <a:bodyPr/>
                    <a:lstStyle/>
                    <a:p>
                      <a:pPr indent="0" lvl="0" marL="0" rtl="0" algn="ctr">
                        <a:lnSpc>
                          <a:spcPct val="115000"/>
                        </a:lnSpc>
                        <a:spcBef>
                          <a:spcPts val="0"/>
                        </a:spcBef>
                        <a:spcAft>
                          <a:spcPts val="0"/>
                        </a:spcAft>
                        <a:buNone/>
                      </a:pPr>
                      <a:r>
                        <a:rPr lang="tr" sz="1000"/>
                        <a:t>Category</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Predictors &amp; Metrics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Strategic Intent</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485775">
                <a:tc>
                  <a:txBody>
                    <a:bodyPr/>
                    <a:lstStyle/>
                    <a:p>
                      <a:pPr indent="0" lvl="0" marL="0" rtl="0" algn="ctr">
                        <a:lnSpc>
                          <a:spcPct val="115000"/>
                        </a:lnSpc>
                        <a:spcBef>
                          <a:spcPts val="0"/>
                        </a:spcBef>
                        <a:spcAft>
                          <a:spcPts val="0"/>
                        </a:spcAft>
                        <a:buNone/>
                      </a:pPr>
                      <a:r>
                        <a:rPr b="1" lang="tr" sz="1000"/>
                        <a:t>Acquisition</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Channel, Country Tier, Device Specs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Uses hardware and location as a proxy for purchasing power.</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ctr">
                        <a:lnSpc>
                          <a:spcPct val="115000"/>
                        </a:lnSpc>
                        <a:spcBef>
                          <a:spcPts val="0"/>
                        </a:spcBef>
                        <a:spcAft>
                          <a:spcPts val="0"/>
                        </a:spcAft>
                        <a:buNone/>
                      </a:pPr>
                      <a:r>
                        <a:rPr b="1" lang="tr" sz="1000"/>
                        <a:t>Progression Velocity</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Level-up speed, "Aha!" moments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Tracks engagement depth (e.g., reaching Level 5milestones).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ctr">
                        <a:lnSpc>
                          <a:spcPct val="115000"/>
                        </a:lnSpc>
                        <a:spcBef>
                          <a:spcPts val="0"/>
                        </a:spcBef>
                        <a:spcAft>
                          <a:spcPts val="0"/>
                        </a:spcAft>
                        <a:buNone/>
                      </a:pPr>
                      <a:r>
                        <a:rPr b="1" lang="tr" sz="1000"/>
                        <a:t>Economy Hygiene</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Sink/Source Analysis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Monitors the balance of gem spend vs. earnings(hard currency).</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8650">
                <a:tc>
                  <a:txBody>
                    <a:bodyPr/>
                    <a:lstStyle/>
                    <a:p>
                      <a:pPr indent="0" lvl="0" marL="0" rtl="0" algn="ctr">
                        <a:lnSpc>
                          <a:spcPct val="115000"/>
                        </a:lnSpc>
                        <a:spcBef>
                          <a:spcPts val="0"/>
                        </a:spcBef>
                        <a:spcAft>
                          <a:spcPts val="0"/>
                        </a:spcAft>
                        <a:buNone/>
                      </a:pPr>
                      <a:r>
                        <a:rPr b="1" lang="tr" sz="1000"/>
                        <a:t>Monetization</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Time to First Purchase (TTFP), Ad Frequency</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Evaluates early revenue potential and ad-impression tolerance.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1" name="Google Shape;151;p23"/>
          <p:cNvSpPr txBox="1"/>
          <p:nvPr/>
        </p:nvSpPr>
        <p:spPr>
          <a:xfrm>
            <a:off x="155850" y="4316175"/>
            <a:ext cx="8832300" cy="70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tr" sz="1100">
                <a:solidFill>
                  <a:schemeClr val="dk1"/>
                </a:solidFill>
              </a:rPr>
              <a:t>Targeting Strategy:</a:t>
            </a:r>
            <a:r>
              <a:rPr lang="tr" sz="1100">
                <a:solidFill>
                  <a:schemeClr val="dk1"/>
                </a:solidFill>
              </a:rPr>
              <a:t> Distinct models for </a:t>
            </a:r>
            <a:r>
              <a:rPr b="1" lang="tr" sz="1100">
                <a:solidFill>
                  <a:schemeClr val="dk1"/>
                </a:solidFill>
              </a:rPr>
              <a:t>IAP LTV</a:t>
            </a:r>
            <a:r>
              <a:rPr lang="tr" sz="1100">
                <a:solidFill>
                  <a:schemeClr val="dk1"/>
                </a:solidFill>
              </a:rPr>
              <a:t> (Whale detection) vs. </a:t>
            </a:r>
            <a:r>
              <a:rPr b="1" lang="tr" sz="1100">
                <a:solidFill>
                  <a:schemeClr val="dk1"/>
                </a:solidFill>
              </a:rPr>
              <a:t>Ad LTV</a:t>
            </a:r>
            <a:r>
              <a:rPr lang="tr" sz="1100">
                <a:solidFill>
                  <a:schemeClr val="dk1"/>
                </a:solidFill>
              </a:rPr>
              <a:t> (Retention-based revenue).</a:t>
            </a: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280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Q3.3</a:t>
            </a:r>
            <a:endParaRPr sz="2720">
              <a:solidFill>
                <a:schemeClr val="accent3"/>
              </a:solidFill>
            </a:endParaRPr>
          </a:p>
        </p:txBody>
      </p:sp>
      <p:sp>
        <p:nvSpPr>
          <p:cNvPr id="157" name="Google Shape;157;p24"/>
          <p:cNvSpPr txBox="1"/>
          <p:nvPr/>
        </p:nvSpPr>
        <p:spPr>
          <a:xfrm>
            <a:off x="1818000" y="406575"/>
            <a:ext cx="5508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Clr>
                <a:schemeClr val="dk1"/>
              </a:buClr>
              <a:buSzPts val="1100"/>
              <a:buFont typeface="Arial"/>
              <a:buNone/>
            </a:pPr>
            <a:r>
              <a:rPr b="1" lang="tr" sz="1700">
                <a:solidFill>
                  <a:schemeClr val="dk1"/>
                </a:solidFill>
              </a:rPr>
              <a:t>Modeling Strategy: The Two-Stage Hurdle</a:t>
            </a:r>
            <a:endParaRPr/>
          </a:p>
        </p:txBody>
      </p:sp>
      <p:sp>
        <p:nvSpPr>
          <p:cNvPr id="158" name="Google Shape;158;p24"/>
          <p:cNvSpPr txBox="1"/>
          <p:nvPr/>
        </p:nvSpPr>
        <p:spPr>
          <a:xfrm>
            <a:off x="1688550" y="852975"/>
            <a:ext cx="5766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Clr>
                <a:schemeClr val="dk1"/>
              </a:buClr>
              <a:buSzPts val="1100"/>
              <a:buFont typeface="Arial"/>
              <a:buNone/>
            </a:pPr>
            <a:r>
              <a:rPr b="1" lang="tr" sz="1100">
                <a:solidFill>
                  <a:schemeClr val="dk1"/>
                </a:solidFill>
              </a:rPr>
              <a:t>Solving for Heavy-Tails and Zero-Inflation</a:t>
            </a:r>
            <a:endParaRPr sz="1200">
              <a:solidFill>
                <a:schemeClr val="dk1"/>
              </a:solidFill>
            </a:endParaRPr>
          </a:p>
        </p:txBody>
      </p:sp>
      <p:graphicFrame>
        <p:nvGraphicFramePr>
          <p:cNvPr id="159" name="Google Shape;159;p24"/>
          <p:cNvGraphicFramePr/>
          <p:nvPr/>
        </p:nvGraphicFramePr>
        <p:xfrm>
          <a:off x="1763975" y="2174100"/>
          <a:ext cx="3000000" cy="3000000"/>
        </p:xfrm>
        <a:graphic>
          <a:graphicData uri="http://schemas.openxmlformats.org/drawingml/2006/table">
            <a:tbl>
              <a:tblPr>
                <a:noFill/>
                <a:tableStyleId>{83383AFD-4F68-4535-BF46-1FAF93763E93}</a:tableStyleId>
              </a:tblPr>
              <a:tblGrid>
                <a:gridCol w="952500"/>
                <a:gridCol w="952500"/>
                <a:gridCol w="1085850"/>
                <a:gridCol w="2476500"/>
              </a:tblGrid>
              <a:tr h="200025">
                <a:tc>
                  <a:txBody>
                    <a:bodyPr/>
                    <a:lstStyle/>
                    <a:p>
                      <a:pPr indent="0" lvl="0" marL="0" rtl="0" algn="ctr">
                        <a:lnSpc>
                          <a:spcPct val="115000"/>
                        </a:lnSpc>
                        <a:spcBef>
                          <a:spcPts val="0"/>
                        </a:spcBef>
                        <a:spcAft>
                          <a:spcPts val="0"/>
                        </a:spcAft>
                        <a:buNone/>
                      </a:pPr>
                      <a:r>
                        <a:rPr b="1" lang="tr" sz="1000"/>
                        <a:t>Stage</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Model Type</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Target Variable</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Primary Logic</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333375">
                <a:tc>
                  <a:txBody>
                    <a:bodyPr/>
                    <a:lstStyle/>
                    <a:p>
                      <a:pPr indent="0" lvl="0" marL="0" rtl="0" algn="ctr">
                        <a:lnSpc>
                          <a:spcPct val="115000"/>
                        </a:lnSpc>
                        <a:spcBef>
                          <a:spcPts val="0"/>
                        </a:spcBef>
                        <a:spcAft>
                          <a:spcPts val="0"/>
                        </a:spcAft>
                        <a:buNone/>
                      </a:pPr>
                      <a:r>
                        <a:rPr b="1" lang="tr" sz="1000"/>
                        <a:t>1. Spender Classifier</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LightGBM</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Probability ($P$)</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Binary classification: Predicts the likelihood of a user making anypurchase.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ctr">
                        <a:lnSpc>
                          <a:spcPct val="115000"/>
                        </a:lnSpc>
                        <a:spcBef>
                          <a:spcPts val="0"/>
                        </a:spcBef>
                        <a:spcAft>
                          <a:spcPts val="0"/>
                        </a:spcAft>
                        <a:buNone/>
                      </a:pPr>
                      <a:r>
                        <a:rPr b="1" lang="tr" sz="1000"/>
                        <a:t>2. Value Regressor</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Tweedie Regressor</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Magnitude ($V$)</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Handles zero-inflated data to predict the specific spend amount for converted users.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5775">
                <a:tc>
                  <a:txBody>
                    <a:bodyPr/>
                    <a:lstStyle/>
                    <a:p>
                      <a:pPr indent="0" lvl="0" marL="0" rtl="0" algn="ctr">
                        <a:lnSpc>
                          <a:spcPct val="115000"/>
                        </a:lnSpc>
                        <a:spcBef>
                          <a:spcPts val="0"/>
                        </a:spcBef>
                        <a:spcAft>
                          <a:spcPts val="0"/>
                        </a:spcAft>
                        <a:buNone/>
                      </a:pPr>
                      <a:r>
                        <a:rPr b="1" lang="tr" sz="1000"/>
                        <a:t>3. Ad-Revenue Layer</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Ridge Regression</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Indirect Value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Calculates non-IAP revenue based on engagement: </a:t>
                      </a:r>
                      <a:r>
                        <a:rPr b="1" lang="tr" sz="1000"/>
                        <a:t>Days Played × eCPM.</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60" name="Google Shape;160;p24"/>
          <p:cNvSpPr txBox="1"/>
          <p:nvPr/>
        </p:nvSpPr>
        <p:spPr>
          <a:xfrm>
            <a:off x="225950" y="1029975"/>
            <a:ext cx="8832300" cy="109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tr" sz="1100">
                <a:solidFill>
                  <a:schemeClr val="dk1"/>
                </a:solidFill>
              </a:rPr>
              <a:t>Why Two Stages?</a:t>
            </a:r>
            <a:r>
              <a:rPr lang="tr" sz="1100">
                <a:solidFill>
                  <a:schemeClr val="dk1"/>
                </a:solidFill>
              </a:rPr>
              <a:t> Standard regressions over-predict non-spenders and under-predict Whales. We separate the IF from the HOW MUCH.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tr" sz="1100">
                <a:solidFill>
                  <a:schemeClr val="dk1"/>
                </a:solidFill>
              </a:rPr>
              <a:t>The Mathematical Architecture:</a:t>
            </a:r>
            <a:endParaRPr sz="1100">
              <a:solidFill>
                <a:schemeClr val="dk1"/>
              </a:solidFill>
            </a:endParaRPr>
          </a:p>
        </p:txBody>
      </p:sp>
      <p:sp>
        <p:nvSpPr>
          <p:cNvPr id="161" name="Google Shape;161;p24"/>
          <p:cNvSpPr txBox="1"/>
          <p:nvPr/>
        </p:nvSpPr>
        <p:spPr>
          <a:xfrm>
            <a:off x="311700" y="3869550"/>
            <a:ext cx="8832300" cy="897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tr" sz="1100">
                <a:solidFill>
                  <a:schemeClr val="dk1"/>
                </a:solidFill>
              </a:rPr>
              <a:t>The Formula:</a:t>
            </a:r>
            <a:r>
              <a:rPr lang="tr" sz="1100">
                <a:solidFill>
                  <a:schemeClr val="dk1"/>
                </a:solidFill>
              </a:rPr>
              <a:t> </a:t>
            </a:r>
            <a:r>
              <a:rPr lang="tr" sz="1100" u="sng">
                <a:solidFill>
                  <a:schemeClr val="dk1"/>
                </a:solidFill>
              </a:rPr>
              <a:t>pLTV=(P×V)+Predicted Ad Revenue</a:t>
            </a:r>
            <a:r>
              <a:rPr lang="tr" sz="1100">
                <a:solidFill>
                  <a:schemeClr val="dk1"/>
                </a:solidFill>
              </a:rPr>
              <a:t>   (</a:t>
            </a:r>
            <a:r>
              <a:rPr b="1" lang="tr" sz="1100">
                <a:solidFill>
                  <a:schemeClr val="dk1"/>
                </a:solidFill>
              </a:rPr>
              <a:t>Expected Total Value (Etotal​)</a:t>
            </a:r>
            <a:r>
              <a:rPr lang="tr" sz="1100">
                <a:solidFill>
                  <a:schemeClr val="dk1"/>
                </a:solidFill>
              </a:rPr>
              <a:t> as a composite function</a:t>
            </a:r>
            <a:r>
              <a:rPr lang="tr"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tr" sz="1100">
                <a:solidFill>
                  <a:schemeClr val="dk1"/>
                </a:solidFill>
              </a:rPr>
              <a:t>Risk Management:</a:t>
            </a:r>
            <a:r>
              <a:rPr lang="tr" sz="1100">
                <a:solidFill>
                  <a:schemeClr val="dk1"/>
                </a:solidFill>
              </a:rPr>
              <a:t> Outputs include Confidence Intervals (P10​ to P90​) to manage financial exposure.</a:t>
            </a:r>
            <a:endParaRPr sz="1100">
              <a:solidFill>
                <a:schemeClr val="dk1"/>
              </a:solidFill>
            </a:endParaRPr>
          </a:p>
        </p:txBody>
      </p:sp>
      <p:sp>
        <p:nvSpPr>
          <p:cNvPr id="162" name="Google Shape;162;p24"/>
          <p:cNvSpPr/>
          <p:nvPr/>
        </p:nvSpPr>
        <p:spPr>
          <a:xfrm>
            <a:off x="1259525" y="2383650"/>
            <a:ext cx="350700" cy="14859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4"/>
          <p:cNvSpPr txBox="1"/>
          <p:nvPr/>
        </p:nvSpPr>
        <p:spPr>
          <a:xfrm>
            <a:off x="77825" y="2301525"/>
            <a:ext cx="1134300" cy="109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tr" sz="800">
                <a:solidFill>
                  <a:schemeClr val="dk2"/>
                </a:solidFill>
              </a:rPr>
              <a:t>LightGBM → fastest for large datasets.</a:t>
            </a:r>
            <a:endParaRPr sz="8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tr" sz="800">
                <a:solidFill>
                  <a:schemeClr val="dk2"/>
                </a:solidFill>
              </a:rPr>
              <a:t>CatBoost → strongest native categorical handling.</a:t>
            </a:r>
            <a:endParaRPr sz="8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tr" sz="800">
                <a:solidFill>
                  <a:schemeClr val="dk2"/>
                </a:solidFill>
              </a:rPr>
              <a:t>XGBoost → stable &amp; widely adopted.</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cxnSp>
        <p:nvCxnSpPr>
          <p:cNvPr id="164" name="Google Shape;164;p24"/>
          <p:cNvCxnSpPr/>
          <p:nvPr/>
        </p:nvCxnSpPr>
        <p:spPr>
          <a:xfrm flipH="1">
            <a:off x="953425" y="2580100"/>
            <a:ext cx="1920000" cy="348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298650" y="280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Q3.4</a:t>
            </a:r>
            <a:endParaRPr sz="2720">
              <a:solidFill>
                <a:schemeClr val="accent3"/>
              </a:solidFill>
            </a:endParaRPr>
          </a:p>
        </p:txBody>
      </p:sp>
      <p:sp>
        <p:nvSpPr>
          <p:cNvPr id="170" name="Google Shape;170;p25"/>
          <p:cNvSpPr txBox="1"/>
          <p:nvPr/>
        </p:nvSpPr>
        <p:spPr>
          <a:xfrm>
            <a:off x="155850" y="4036475"/>
            <a:ext cx="8806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tr" sz="1100">
                <a:solidFill>
                  <a:schemeClr val="dk1"/>
                </a:solidFill>
              </a:rPr>
              <a:t>The Calibration Bridge:</a:t>
            </a:r>
            <a:r>
              <a:rPr lang="tr" sz="1100">
                <a:solidFill>
                  <a:schemeClr val="dk1"/>
                </a:solidFill>
              </a:rPr>
              <a:t> We use clean Android behavioral trends to calibrate blurred iOS signals, ensuring we don't under-spend on high-potential iOS clusters.</a:t>
            </a:r>
            <a:endParaRPr/>
          </a:p>
        </p:txBody>
      </p:sp>
      <p:sp>
        <p:nvSpPr>
          <p:cNvPr id="171" name="Google Shape;171;p25"/>
          <p:cNvSpPr txBox="1"/>
          <p:nvPr/>
        </p:nvSpPr>
        <p:spPr>
          <a:xfrm>
            <a:off x="1818000" y="406575"/>
            <a:ext cx="5508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Clr>
                <a:schemeClr val="dk1"/>
              </a:buClr>
              <a:buSzPts val="1100"/>
              <a:buFont typeface="Arial"/>
              <a:buNone/>
            </a:pPr>
            <a:r>
              <a:rPr b="1" lang="tr" sz="1700">
                <a:solidFill>
                  <a:schemeClr val="dk1"/>
                </a:solidFill>
              </a:rPr>
              <a:t>Platform-Specific Measurement</a:t>
            </a:r>
            <a:endParaRPr/>
          </a:p>
        </p:txBody>
      </p:sp>
      <p:sp>
        <p:nvSpPr>
          <p:cNvPr id="172" name="Google Shape;172;p25"/>
          <p:cNvSpPr txBox="1"/>
          <p:nvPr/>
        </p:nvSpPr>
        <p:spPr>
          <a:xfrm>
            <a:off x="1688550" y="852975"/>
            <a:ext cx="5766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Clr>
                <a:schemeClr val="dk1"/>
              </a:buClr>
              <a:buSzPts val="1100"/>
              <a:buFont typeface="Arial"/>
              <a:buNone/>
            </a:pPr>
            <a:r>
              <a:rPr b="1" lang="tr" sz="1100">
                <a:solidFill>
                  <a:schemeClr val="dk1"/>
                </a:solidFill>
              </a:rPr>
              <a:t>Navigating the Modern Privacy Landscape (Android vs. iOS)</a:t>
            </a:r>
            <a:endParaRPr sz="1200">
              <a:solidFill>
                <a:schemeClr val="dk1"/>
              </a:solidFill>
            </a:endParaRPr>
          </a:p>
        </p:txBody>
      </p:sp>
      <p:graphicFrame>
        <p:nvGraphicFramePr>
          <p:cNvPr id="173" name="Google Shape;173;p25"/>
          <p:cNvGraphicFramePr/>
          <p:nvPr/>
        </p:nvGraphicFramePr>
        <p:xfrm>
          <a:off x="2739500" y="1677025"/>
          <a:ext cx="3000000" cy="3000000"/>
        </p:xfrm>
        <a:graphic>
          <a:graphicData uri="http://schemas.openxmlformats.org/drawingml/2006/table">
            <a:tbl>
              <a:tblPr>
                <a:noFill/>
                <a:tableStyleId>{83383AFD-4F68-4535-BF46-1FAF93763E93}</a:tableStyleId>
              </a:tblPr>
              <a:tblGrid>
                <a:gridCol w="1137925"/>
                <a:gridCol w="1250475"/>
                <a:gridCol w="1250475"/>
              </a:tblGrid>
              <a:tr h="295750">
                <a:tc>
                  <a:txBody>
                    <a:bodyPr/>
                    <a:lstStyle/>
                    <a:p>
                      <a:pPr indent="0" lvl="0" marL="0" rtl="0" algn="ctr">
                        <a:lnSpc>
                          <a:spcPct val="115000"/>
                        </a:lnSpc>
                        <a:spcBef>
                          <a:spcPts val="0"/>
                        </a:spcBef>
                        <a:spcAft>
                          <a:spcPts val="0"/>
                        </a:spcAft>
                        <a:buNone/>
                      </a:pPr>
                      <a:r>
                        <a:rPr b="1" lang="tr" sz="1100"/>
                        <a:t>Device</a:t>
                      </a:r>
                      <a:endParaRPr b="1" sz="11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tr" sz="900"/>
                        <a:t>Android</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900"/>
                        <a:t>iOS</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295750">
                <a:tc>
                  <a:txBody>
                    <a:bodyPr/>
                    <a:lstStyle/>
                    <a:p>
                      <a:pPr indent="0" lvl="0" marL="0" rtl="0" algn="ctr">
                        <a:lnSpc>
                          <a:spcPct val="115000"/>
                        </a:lnSpc>
                        <a:spcBef>
                          <a:spcPts val="0"/>
                        </a:spcBef>
                        <a:spcAft>
                          <a:spcPts val="0"/>
                        </a:spcAft>
                        <a:buNone/>
                      </a:pPr>
                      <a:r>
                        <a:rPr b="1" lang="tr" sz="1100"/>
                        <a:t>Feature</a:t>
                      </a:r>
                      <a:endParaRPr b="1" sz="11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900"/>
                        <a:t>Deterministic</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900"/>
                        <a:t>Probabilistic</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7075">
                <a:tc>
                  <a:txBody>
                    <a:bodyPr/>
                    <a:lstStyle/>
                    <a:p>
                      <a:pPr indent="0" lvl="0" marL="0" rtl="0" algn="ctr">
                        <a:lnSpc>
                          <a:spcPct val="115000"/>
                        </a:lnSpc>
                        <a:spcBef>
                          <a:spcPts val="0"/>
                        </a:spcBef>
                        <a:spcAft>
                          <a:spcPts val="0"/>
                        </a:spcAft>
                        <a:buNone/>
                      </a:pPr>
                      <a:r>
                        <a:rPr b="1" lang="tr" sz="1100"/>
                        <a:t>Attribution</a:t>
                      </a:r>
                      <a:endParaRPr b="1" sz="11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900"/>
                        <a:t>User-level (GAID)</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900"/>
                        <a:t>Aggregated (SKAdNetwork)</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7075">
                <a:tc>
                  <a:txBody>
                    <a:bodyPr/>
                    <a:lstStyle/>
                    <a:p>
                      <a:pPr indent="0" lvl="0" marL="0" rtl="0" algn="ctr">
                        <a:lnSpc>
                          <a:spcPct val="115000"/>
                        </a:lnSpc>
                        <a:spcBef>
                          <a:spcPts val="0"/>
                        </a:spcBef>
                        <a:spcAft>
                          <a:spcPts val="0"/>
                        </a:spcAft>
                        <a:buNone/>
                      </a:pPr>
                      <a:r>
                        <a:rPr b="1" lang="tr" sz="1100"/>
                        <a:t>Optimization</a:t>
                      </a:r>
                      <a:endParaRPr b="1" sz="11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900"/>
                        <a:t>Value-Based Bidding (tROAS)</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900"/>
                        <a:t>Conversion Value Mapping (0-63)</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7750">
                <a:tc>
                  <a:txBody>
                    <a:bodyPr/>
                    <a:lstStyle/>
                    <a:p>
                      <a:pPr indent="0" lvl="0" marL="0" rtl="0" algn="ctr">
                        <a:lnSpc>
                          <a:spcPct val="115000"/>
                        </a:lnSpc>
                        <a:spcBef>
                          <a:spcPts val="0"/>
                        </a:spcBef>
                        <a:spcAft>
                          <a:spcPts val="0"/>
                        </a:spcAft>
                        <a:buNone/>
                      </a:pPr>
                      <a:r>
                        <a:rPr b="1" lang="tr" sz="1100"/>
                        <a:t>Primary Strategy</a:t>
                      </a:r>
                      <a:endParaRPr b="1" sz="11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900"/>
                        <a:t>ML Bottom-Up Prediction</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900"/>
                        <a:t>Media Mix Modeling (MMM)</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311700" y="280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720">
                <a:solidFill>
                  <a:schemeClr val="accent3"/>
                </a:solidFill>
              </a:rPr>
              <a:t>Q3.5</a:t>
            </a:r>
            <a:endParaRPr sz="2720">
              <a:solidFill>
                <a:schemeClr val="accent3"/>
              </a:solidFill>
            </a:endParaRPr>
          </a:p>
        </p:txBody>
      </p:sp>
      <p:sp>
        <p:nvSpPr>
          <p:cNvPr id="179" name="Google Shape;179;p26"/>
          <p:cNvSpPr txBox="1"/>
          <p:nvPr/>
        </p:nvSpPr>
        <p:spPr>
          <a:xfrm>
            <a:off x="175800" y="2571750"/>
            <a:ext cx="8792400" cy="550200"/>
          </a:xfrm>
          <a:prstGeom prst="rect">
            <a:avLst/>
          </a:prstGeom>
          <a:noFill/>
          <a:ln cap="flat" cmpd="sng" w="9525">
            <a:solidFill>
              <a:srgbClr val="F4CCCC"/>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tr" sz="1200">
                <a:solidFill>
                  <a:srgbClr val="E06666"/>
                </a:solidFill>
              </a:rPr>
              <a:t>Failure</a:t>
            </a:r>
            <a:r>
              <a:rPr b="1" lang="tr" sz="1200">
                <a:solidFill>
                  <a:schemeClr val="dk1"/>
                </a:solidFill>
              </a:rPr>
              <a:t> Modes</a:t>
            </a:r>
            <a:r>
              <a:rPr lang="tr" sz="1200">
                <a:solidFill>
                  <a:schemeClr val="dk1"/>
                </a:solidFill>
              </a:rPr>
              <a:t>.  </a:t>
            </a:r>
            <a:r>
              <a:rPr i="1" lang="tr" sz="1200">
                <a:solidFill>
                  <a:schemeClr val="dk1"/>
                </a:solidFill>
              </a:rPr>
              <a:t>"When does this model fail?"</a:t>
            </a:r>
            <a:r>
              <a:rPr lang="tr" sz="1200">
                <a:solidFill>
                  <a:schemeClr val="dk1"/>
                </a:solidFill>
              </a:rPr>
              <a:t>:</a:t>
            </a:r>
            <a:endParaRPr sz="1200">
              <a:solidFill>
                <a:schemeClr val="dk1"/>
              </a:solidFill>
            </a:endParaRPr>
          </a:p>
        </p:txBody>
      </p:sp>
      <p:sp>
        <p:nvSpPr>
          <p:cNvPr id="180" name="Google Shape;180;p26"/>
          <p:cNvSpPr txBox="1"/>
          <p:nvPr/>
        </p:nvSpPr>
        <p:spPr>
          <a:xfrm>
            <a:off x="1818000" y="126300"/>
            <a:ext cx="5508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200"/>
              </a:spcAft>
              <a:buClr>
                <a:schemeClr val="dk1"/>
              </a:buClr>
              <a:buSzPts val="1100"/>
              <a:buFont typeface="Arial"/>
              <a:buNone/>
            </a:pPr>
            <a:r>
              <a:rPr b="1" lang="tr" sz="1700">
                <a:solidFill>
                  <a:schemeClr val="dk1"/>
                </a:solidFill>
              </a:rPr>
              <a:t>Governance, Backtesting &amp; Assumptions + Failures</a:t>
            </a:r>
            <a:endParaRPr sz="1700"/>
          </a:p>
        </p:txBody>
      </p:sp>
      <p:sp>
        <p:nvSpPr>
          <p:cNvPr id="181" name="Google Shape;181;p26"/>
          <p:cNvSpPr txBox="1"/>
          <p:nvPr/>
        </p:nvSpPr>
        <p:spPr>
          <a:xfrm>
            <a:off x="1688550" y="572700"/>
            <a:ext cx="5766900" cy="717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b="1" lang="tr" sz="1100">
                <a:solidFill>
                  <a:schemeClr val="dk1"/>
                </a:solidFill>
              </a:rPr>
              <a:t>Maintaining Accuracy in a Live-Ops Environment</a:t>
            </a:r>
            <a:endParaRPr b="1" sz="1100">
              <a:solidFill>
                <a:schemeClr val="dk1"/>
              </a:solidFill>
            </a:endParaRPr>
          </a:p>
          <a:p>
            <a:pPr indent="0" lvl="0" marL="0" rtl="0" algn="ctr">
              <a:lnSpc>
                <a:spcPct val="115000"/>
              </a:lnSpc>
              <a:spcBef>
                <a:spcPts val="1200"/>
              </a:spcBef>
              <a:spcAft>
                <a:spcPts val="1200"/>
              </a:spcAft>
              <a:buNone/>
            </a:pPr>
            <a:r>
              <a:t/>
            </a:r>
            <a:endParaRPr sz="1200">
              <a:solidFill>
                <a:schemeClr val="dk1"/>
              </a:solidFill>
            </a:endParaRPr>
          </a:p>
        </p:txBody>
      </p:sp>
      <p:graphicFrame>
        <p:nvGraphicFramePr>
          <p:cNvPr id="182" name="Google Shape;182;p26"/>
          <p:cNvGraphicFramePr/>
          <p:nvPr/>
        </p:nvGraphicFramePr>
        <p:xfrm>
          <a:off x="342900" y="981675"/>
          <a:ext cx="3000000" cy="3000000"/>
        </p:xfrm>
        <a:graphic>
          <a:graphicData uri="http://schemas.openxmlformats.org/drawingml/2006/table">
            <a:tbl>
              <a:tblPr>
                <a:noFill/>
                <a:tableStyleId>{83383AFD-4F68-4535-BF46-1FAF93763E93}</a:tableStyleId>
              </a:tblPr>
              <a:tblGrid>
                <a:gridCol w="2114550"/>
                <a:gridCol w="1638300"/>
                <a:gridCol w="4705350"/>
              </a:tblGrid>
              <a:tr h="200025">
                <a:tc>
                  <a:txBody>
                    <a:bodyPr/>
                    <a:lstStyle/>
                    <a:p>
                      <a:pPr indent="0" lvl="0" marL="0" rtl="0" algn="ctr">
                        <a:lnSpc>
                          <a:spcPct val="115000"/>
                        </a:lnSpc>
                        <a:spcBef>
                          <a:spcPts val="0"/>
                        </a:spcBef>
                        <a:spcAft>
                          <a:spcPts val="0"/>
                        </a:spcAft>
                        <a:buNone/>
                      </a:pPr>
                      <a:r>
                        <a:rPr lang="tr" sz="1000"/>
                        <a:t>Pillar</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Component</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lang="tr" sz="1000"/>
                        <a:t>Specification</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200025">
                <a:tc>
                  <a:txBody>
                    <a:bodyPr/>
                    <a:lstStyle/>
                    <a:p>
                      <a:pPr indent="0" lvl="0" marL="0" rtl="0" algn="ctr">
                        <a:lnSpc>
                          <a:spcPct val="115000"/>
                        </a:lnSpc>
                        <a:spcBef>
                          <a:spcPts val="0"/>
                        </a:spcBef>
                        <a:spcAft>
                          <a:spcPts val="0"/>
                        </a:spcAft>
                        <a:buNone/>
                      </a:pPr>
                      <a:r>
                        <a:rPr b="1" lang="tr" sz="1000"/>
                        <a:t>Foundational Assumption</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Economy Stability</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No hyper-inflation or pricing shifts since the training window.</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rPr b="1" lang="tr" sz="1000"/>
                        <a:t>Validation Loop</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Monthly Backtest</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Compare D3 predictions (from 6 months prior) against realized lifetime data.</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tr" sz="1000"/>
                        <a:t>Primary Metric</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MAPE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tr" sz="1000"/>
                        <a:t>Mean Absolute Percentage Error is the core accuracy benchmark.</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tr" sz="1000"/>
                        <a:t>Retraining Trigger A</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Accuracy Decay</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Automatic trigger if MAPE &gt; 15%.</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tr" sz="1000"/>
                        <a:t>Retraining Trigger B</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Product Intervention</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Manual/Automatic trigger upon Major Economy Updates.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tr" sz="1000"/>
                        <a:t>Training Window</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Rolling Horizon</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Retraining utilizes a rolling 90-day window of behavioral data.</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tr" sz="1000"/>
                        <a:t>The "Ground Truth"</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tr" sz="1000"/>
                        <a:t>Geo-Lift Testing</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Periodic increments to validate that predicted ROAS is truly incremental.</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83" name="Google Shape;183;p26"/>
          <p:cNvGraphicFramePr/>
          <p:nvPr/>
        </p:nvGraphicFramePr>
        <p:xfrm>
          <a:off x="152400" y="3020525"/>
          <a:ext cx="3000000" cy="3000000"/>
        </p:xfrm>
        <a:graphic>
          <a:graphicData uri="http://schemas.openxmlformats.org/drawingml/2006/table">
            <a:tbl>
              <a:tblPr>
                <a:noFill/>
                <a:tableStyleId>{83383AFD-4F68-4535-BF46-1FAF93763E93}</a:tableStyleId>
              </a:tblPr>
              <a:tblGrid>
                <a:gridCol w="1409700"/>
                <a:gridCol w="1209675"/>
                <a:gridCol w="2676525"/>
                <a:gridCol w="3543300"/>
              </a:tblGrid>
              <a:tr h="200025">
                <a:tc>
                  <a:txBody>
                    <a:bodyPr/>
                    <a:lstStyle/>
                    <a:p>
                      <a:pPr indent="0" lvl="0" marL="0" rtl="0" algn="ctr">
                        <a:lnSpc>
                          <a:spcPct val="115000"/>
                        </a:lnSpc>
                        <a:spcBef>
                          <a:spcPts val="0"/>
                        </a:spcBef>
                        <a:spcAft>
                          <a:spcPts val="0"/>
                        </a:spcAft>
                        <a:buNone/>
                      </a:pPr>
                      <a:r>
                        <a:rPr b="1" lang="tr" sz="1000"/>
                        <a:t>Failure Mode</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Root Cause</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Behavioral Impact</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tr" sz="1000"/>
                        <a:t>Model Consequence</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333375">
                <a:tc>
                  <a:txBody>
                    <a:bodyPr/>
                    <a:lstStyle/>
                    <a:p>
                      <a:pPr indent="0" lvl="0" marL="0" rtl="0" algn="ctr">
                        <a:lnSpc>
                          <a:spcPct val="115000"/>
                        </a:lnSpc>
                        <a:spcBef>
                          <a:spcPts val="0"/>
                        </a:spcBef>
                        <a:spcAft>
                          <a:spcPts val="0"/>
                        </a:spcAft>
                        <a:buNone/>
                      </a:pPr>
                      <a:r>
                        <a:rPr b="1" lang="tr" sz="1000"/>
                        <a:t>Selection Bias</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tr" sz="1000"/>
                        <a:t>Seasonality / Event-based training</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Holiday users (e.g. Christmas) typically have higher intent/spend than organic February users.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Over-estimation: The model becomes too optimistic, leading to overspending on low-quality traffic.</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5775">
                <a:tc>
                  <a:txBody>
                    <a:bodyPr/>
                    <a:lstStyle/>
                    <a:p>
                      <a:pPr indent="0" lvl="0" marL="0" rtl="0" algn="ctr">
                        <a:lnSpc>
                          <a:spcPct val="115000"/>
                        </a:lnSpc>
                        <a:spcBef>
                          <a:spcPts val="0"/>
                        </a:spcBef>
                        <a:spcAft>
                          <a:spcPts val="0"/>
                        </a:spcAft>
                        <a:buNone/>
                      </a:pPr>
                      <a:r>
                        <a:rPr b="1" lang="tr" sz="1000"/>
                        <a:t>Feature Drift</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tr" sz="1000"/>
                        <a:t>Product / UX Changes</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Introducing a Level Skip or Instant Build button changes the meaning of Progression Velocity.</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Signal Loss: Historical correlation between speed and value breaks; Level-up speed becomes noise.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ctr">
                        <a:lnSpc>
                          <a:spcPct val="115000"/>
                        </a:lnSpc>
                        <a:spcBef>
                          <a:spcPts val="0"/>
                        </a:spcBef>
                        <a:spcAft>
                          <a:spcPts val="0"/>
                        </a:spcAft>
                        <a:buNone/>
                      </a:pPr>
                      <a:r>
                        <a:rPr b="1" lang="tr" sz="1000"/>
                        <a:t>Concept Drift</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tr" sz="1000"/>
                        <a:t>Economy Rebalance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Price changes or new Hard Currency sinks alter the value of a Gem.</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Inaccuracy: The Spender Classifier and Value Regressor lose their predictive power as the rules of the world change.</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ctr">
                        <a:lnSpc>
                          <a:spcPct val="115000"/>
                        </a:lnSpc>
                        <a:spcBef>
                          <a:spcPts val="0"/>
                        </a:spcBef>
                        <a:spcAft>
                          <a:spcPts val="0"/>
                        </a:spcAft>
                        <a:buNone/>
                      </a:pPr>
                      <a:r>
                        <a:rPr b="1" lang="tr" sz="1000"/>
                        <a:t>Data Pipeline Latency</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tr" sz="1000"/>
                        <a:t>Infrastructure Lag</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D0–D3 telemetry is delayed or missing due to a server-side bug.</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tr" sz="1000"/>
                        <a:t>Null Inference: The model makes Scale/Hold/Kill decisions based on incomplete or zeroed-out data.</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tr" sz="2800">
                <a:solidFill>
                  <a:schemeClr val="dk2"/>
                </a:solidFill>
              </a:rPr>
              <a:t>END</a:t>
            </a:r>
            <a:endParaRPr b="1"/>
          </a:p>
        </p:txBody>
      </p:sp>
      <p:sp>
        <p:nvSpPr>
          <p:cNvPr id="189" name="Google Shape;189;p27"/>
          <p:cNvSpPr txBox="1"/>
          <p:nvPr/>
        </p:nvSpPr>
        <p:spPr>
          <a:xfrm>
            <a:off x="1706700" y="566262"/>
            <a:ext cx="5730600" cy="46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tr" sz="1800" u="sng">
                <a:solidFill>
                  <a:srgbClr val="3C78D8"/>
                </a:solidFill>
                <a:hlinkClick r:id="rId3">
                  <a:extLst>
                    <a:ext uri="{A12FA001-AC4F-418D-AE19-62706E023703}">
                      <ahyp:hlinkClr val="tx"/>
                    </a:ext>
                  </a:extLst>
                </a:hlinkClick>
              </a:rPr>
              <a:t>&gt; Technical Appendix - Q3 &lt;</a:t>
            </a:r>
            <a:endParaRPr b="1" sz="1800">
              <a:solidFill>
                <a:srgbClr val="3C78D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